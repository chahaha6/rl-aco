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8" r:id="rId3"/>
    <p:sldId id="360" r:id="rId5"/>
    <p:sldId id="350" r:id="rId6"/>
    <p:sldId id="353" r:id="rId7"/>
    <p:sldId id="351" r:id="rId8"/>
    <p:sldId id="352" r:id="rId9"/>
    <p:sldId id="361" r:id="rId10"/>
    <p:sldId id="35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4CB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5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tags" Target="../tags/tag3.xml"/><Relationship Id="rId3" Type="http://schemas.openxmlformats.org/officeDocument/2006/relationships/image" Target="../media/image8.png"/><Relationship Id="rId2" Type="http://schemas.openxmlformats.org/officeDocument/2006/relationships/tags" Target="../tags/tag2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创新点1：任务–卫星–窗口三元冲突图建模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0515600" cy="128016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首先，将每一个候选观测方案表示为三元节点：vⱼᵢₖ = (taskⱼ, satᵢ, windowₖ)。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它表示任务 j 由卫星 i 在第 k 个可见时间窗口内执行。算法搜索的基本单元不是“任务”，而是“任务–卫星–窗口候选节点”。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34440" y="2423160"/>
            <a:ext cx="9144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337560"/>
            <a:ext cx="10332720" cy="210312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其次，根据调度约束构建冲突图 G=(V,E)。V 表示所有候选节点集合，E 表示冲突边集合。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若 (u,v)∈E，则节点 u 和 v 不能同时被选择。冲突边主要来自三类约束：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1. 同一任务重复观测冲突：同一个任务最多执行一次。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2. 同一卫星时间窗口重叠冲突：同星观测窗口发生交叉。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3. 姿态转移时间不足冲突：连续观测之间无法完成姿态机动。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63040" y="557784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pic>
        <p:nvPicPr>
          <p:cNvPr id="7" name="Picture 6" descr="s1_sh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94483"/>
            <a:ext cx="8595360" cy="451714"/>
          </a:xfrm>
          <a:prstGeom prst="rect">
            <a:avLst/>
          </a:prstGeom>
          <a:effectLst/>
        </p:spPr>
      </p:pic>
      <p:pic>
        <p:nvPicPr>
          <p:cNvPr id="8" name="Picture 7" descr="s1_sh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5632704"/>
            <a:ext cx="7735824" cy="347472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创新点1：从候选窗口到冲突图，再到可行调度解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920240" cy="310896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282828"/>
                </a:solidFill>
                <a:latin typeface="微软雅黑" panose="020B0503020204020204" charset="-122"/>
              </a:rPr>
              <a:t>展开成节点</a:t>
            </a:r>
            <a:endParaRPr sz="14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2057400" cy="27432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微软雅黑" panose="020B0503020204020204" charset="-122"/>
              </a:rPr>
              <a:t>一个窗口 = 一个候选节点</a:t>
            </a:r>
            <a:endParaRPr sz="1200" b="0">
              <a:solidFill>
                <a:srgbClr val="696969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v₇,₁,₁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t7 · s1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08:10–08:14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011680" y="169164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v₁₂,₁,₁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t12 · s1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08:18–08:21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256032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v₇,₂,₁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t7 · s2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09:20–09:24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11680" y="256032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v₃₁,₃,₁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t31 · s3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10:05–10:10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3657600"/>
            <a:ext cx="2423160" cy="5029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节点字段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node_id / task_id / sat_id / window_id / start / end / profit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703320" y="914400"/>
            <a:ext cx="1920240" cy="310896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282828"/>
                </a:solidFill>
                <a:latin typeface="微软雅黑" panose="020B0503020204020204" charset="-122"/>
              </a:rPr>
              <a:t>编码成部分解</a:t>
            </a:r>
            <a:endParaRPr sz="14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423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Xₜ = { v₇,₁,₁, v₁₂,₁,₁ }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03320" y="2423160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v₇,₁,₁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t7 · s1  08:10–08:14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03320" y="3172968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v₁₂,₁,₁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t12 · s1  08:18–08:21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703320" y="3922776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v₃₁,₃,₁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t31 · s3  10:05–10:10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4720" y="4709160"/>
            <a:ext cx="2606040" cy="73152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如果某个新节点与 Xₜ 中任意节点有冲突边，则不能加入。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914400"/>
            <a:ext cx="1188720" cy="2743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300" b="1">
                <a:solidFill>
                  <a:srgbClr val="282828"/>
                </a:solidFill>
                <a:latin typeface="微软雅黑" panose="020B0503020204020204" charset="-122"/>
              </a:rPr>
              <a:t>候选节点池</a:t>
            </a:r>
            <a:endParaRPr sz="13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132588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v₁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t7 · s1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08:10–08:14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214884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v₂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t7 · s2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09:20–09:24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0" y="297180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v₃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t12 · s1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08:12–08:16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379476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v₄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t31 · s1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08:18–08:21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4800600"/>
            <a:ext cx="1828800" cy="502920"/>
          </a:xfrm>
          <a:prstGeom prst="roundRect">
            <a:avLst/>
          </a:prstGeom>
          <a:solidFill>
            <a:srgbClr val="FFF5C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两两判断：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不能同时选就连边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914400"/>
            <a:ext cx="1828800" cy="2743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300" b="1">
                <a:solidFill>
                  <a:srgbClr val="282828"/>
                </a:solidFill>
                <a:latin typeface="微软雅黑" panose="020B0503020204020204" charset="-122"/>
              </a:rPr>
              <a:t>生成冲突图 G=(V,E)</a:t>
            </a:r>
            <a:endParaRPr sz="13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9235440" y="1645920"/>
            <a:ext cx="1188720" cy="228599"/>
          </a:xfrm>
          <a:prstGeom prst="line">
            <a:avLst/>
          </a:prstGeom>
          <a:ln w="25400">
            <a:solidFill>
              <a:srgbClr val="696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1874519"/>
            <a:ext cx="182880" cy="1508761"/>
          </a:xfrm>
          <a:prstGeom prst="line">
            <a:avLst/>
          </a:prstGeom>
          <a:ln w="25400">
            <a:solidFill>
              <a:srgbClr val="696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18320" y="3383280"/>
            <a:ext cx="1005840" cy="548640"/>
          </a:xfrm>
          <a:prstGeom prst="line">
            <a:avLst/>
          </a:prstGeom>
          <a:ln w="25400">
            <a:solidFill>
              <a:srgbClr val="6969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06840" y="16459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 panose="020B0503020204020204" charset="-122"/>
              </a:rPr>
              <a:t>v₁</a:t>
            </a:r>
            <a:endParaRPr sz="12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195560" y="14173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 panose="020B0503020204020204" charset="-122"/>
              </a:rPr>
              <a:t>v₂</a:t>
            </a:r>
            <a:endParaRPr sz="12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89720" y="315468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 panose="020B0503020204020204" charset="-122"/>
              </a:rPr>
              <a:t>v₃</a:t>
            </a:r>
            <a:endParaRPr sz="12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195560" y="37033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 panose="020B0503020204020204" charset="-122"/>
              </a:rPr>
              <a:t>v₄</a:t>
            </a:r>
            <a:endParaRPr sz="12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464040" y="214884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同任务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互斥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549640" y="260604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同星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重叠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46920" y="425196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机动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不足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0" y="4892040"/>
            <a:ext cx="2377440" cy="73152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冲突图的价值：构造前就知道哪些组合不可行。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创新点2：基于冲突图动作掩码的可行构造机制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424160" cy="91440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蚂蚁从空解开始逐步选择候选节点。当前已选节点集合为 Xₜ，下一步不是从全部 V 中选，而是从冲突图掩码后的可行动作集合 Aₜ 中选。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5840" y="2148840"/>
            <a:ext cx="9326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4937760" cy="17830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动作掩码的作用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N(v) 是节点 v 在冲突图中的邻域。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若 N(v)∩Xₜ≠∅，说明 v 与当前部分解冲突，直接屏蔽。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构造过程中 Xₜ 始终保持可行，不需要事后大规模修复。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72200" y="3154680"/>
            <a:ext cx="4389120" cy="17830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这一点的核心思想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RL 不负责学习硬约束。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RL 只在可行动作空间 Aₜ 内学习“哪个节点更值得选”。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冲突图负责可行性，学习模块负责选择质量。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08760" y="5303520"/>
            <a:ext cx="8412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pic>
        <p:nvPicPr>
          <p:cNvPr id="8" name="Picture 7" descr="s3_sh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646" y="2227844"/>
            <a:ext cx="8767268" cy="500360"/>
          </a:xfrm>
          <a:prstGeom prst="rect">
            <a:avLst/>
          </a:prstGeom>
          <a:effectLst/>
        </p:spPr>
      </p:pic>
      <p:pic>
        <p:nvPicPr>
          <p:cNvPr id="9" name="Picture 8" descr="s3_sh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134" y="5367162"/>
            <a:ext cx="7907732" cy="40306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创新点3：MLP-DDQN 辅助的候选节点价值学习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332720" cy="77724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将蚂蚁逐节点构造调度方案的过程建模为 MDP。状态表示当前构造局面，动作表示选择一个当前可行候选节点。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80160" y="1874519"/>
            <a:ext cx="8778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3200400" cy="2011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状态特征 gₜ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当前收益比例 Profitₜ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累计机动代价 Maneuverₜ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负载不均衡 LoadStdₜ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剩余可选比例 AvailableRatioₜ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平均冲突度 AvgConflictₜ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迭代进度 IterRatio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69080" y="2743200"/>
            <a:ext cx="3246120" cy="2011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节点特征 h(v)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任务收益 p(v)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窗口稀缺度 R(v)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节点冲突度 C(v)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插入机动代价 M(v)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卫星当前负载 L(sᵢ)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信息素 τ(v)、启发式 η(v)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BlockPenalty(v)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43800" y="2743200"/>
            <a:ext cx="3063240" cy="20116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DDQN 学的是什么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不是替代 MOACO。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不是直接输出完整解。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学习在当前状态 sₜ 下，候选节点 v 的长期选择价值。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9692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pic>
        <p:nvPicPr>
          <p:cNvPr id="9" name="Picture 8" descr="s4_sh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507" y="1942550"/>
            <a:ext cx="8251546" cy="430866"/>
          </a:xfrm>
          <a:prstGeom prst="rect">
            <a:avLst/>
          </a:prstGeom>
          <a:effectLst/>
        </p:spPr>
      </p:pic>
      <p:pic>
        <p:nvPicPr>
          <p:cNvPr id="10" name="Picture 9" descr="s4_sh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79" y="5232196"/>
            <a:ext cx="9111082" cy="41696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创新点4：基于 Advantage 校正的状态感知节点选择机制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传统 MOACO 中，信息素 τ(v) 反映历史经验，启发式 η(v) 反映静态结构质量。二者先给出 ACO 基础吸引力。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97280" y="1691640"/>
            <a:ext cx="91440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10058400" cy="59436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DDQN 不直接把绝对 Q 值作为第三个加数，而是先计算当前可行动作集合内的平均 Q 值，再得到相对优势项。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822960" y="5074920"/>
            <a:ext cx="4389120" cy="82296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这样写的含义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ACO 给基础偏好，DDQN 只做状态相关校正。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5486400" y="5074920"/>
            <a:ext cx="4389120" cy="8229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避免的问题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避免被理解为“信息素 + 启发式 + Q 值”简单相加。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pic>
        <p:nvPicPr>
          <p:cNvPr id="11" name="Picture 10" descr="s5_sh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53087"/>
            <a:ext cx="8595360" cy="389170"/>
          </a:xfrm>
          <a:prstGeom prst="rect">
            <a:avLst/>
          </a:prstGeom>
          <a:effectLst/>
        </p:spPr>
      </p:pic>
      <p:pic>
        <p:nvPicPr>
          <p:cNvPr id="13" name="Picture 12" descr="s5_sh6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897880" y="3218322"/>
            <a:ext cx="4297680" cy="403068"/>
          </a:xfrm>
          <a:prstGeom prst="rect">
            <a:avLst/>
          </a:prstGeom>
          <a:effectLst/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853690" y="3084830"/>
            <a:ext cx="2200275" cy="733425"/>
          </a:xfrm>
          <a:prstGeom prst="rect">
            <a:avLst/>
          </a:prstGeom>
          <a:effectLst/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1415" y="3886200"/>
            <a:ext cx="6605905" cy="9525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DDQN 训练奖励：缩放即时构造奖励 + Pareto 终局奖励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奖励不直接使用 HV。每步奖励评价当前动作的局部构造质量；最终奖励评价完整解是否进入 Pareto 档案。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9875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4754880" cy="16002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每步奖励评价什么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收益提升：ΔProfit̂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机动代价增加：ΔManeuver̂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负载不均衡变化：ΔLoad̂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选择该节点后屏蔽后续高收益节点的比例：BlockPenalty(v)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4572000" cy="16002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为什么要缩放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一个完整解通常需要多步构造。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若每步奖励不缩放，累计即时奖励会淹没终局 Pareto 奖励。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Warm-up 阶段估计平均构造长度 Tref。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05840" y="4526280"/>
            <a:ext cx="4343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06440" y="4526280"/>
            <a:ext cx="4434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349240"/>
            <a:ext cx="9418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</a:p>
        </p:txBody>
      </p:sp>
      <p:pic>
        <p:nvPicPr>
          <p:cNvPr id="13" name="Picture 12" descr="s6_sh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" y="1762963"/>
            <a:ext cx="9282990" cy="451714"/>
          </a:xfrm>
          <a:prstGeom prst="rect">
            <a:avLst/>
          </a:prstGeom>
          <a:effectLst/>
        </p:spPr>
      </p:pic>
      <p:pic>
        <p:nvPicPr>
          <p:cNvPr id="14" name="Picture 13" descr="s6_sh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42" y="4589922"/>
            <a:ext cx="4082796" cy="403068"/>
          </a:xfrm>
          <a:prstGeom prst="rect">
            <a:avLst/>
          </a:prstGeom>
          <a:effectLst/>
        </p:spPr>
      </p:pic>
      <p:pic>
        <p:nvPicPr>
          <p:cNvPr id="15" name="Picture 14" descr="s6_sh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485" y="4589922"/>
            <a:ext cx="4168750" cy="403068"/>
          </a:xfrm>
          <a:prstGeom prst="rect">
            <a:avLst/>
          </a:prstGeom>
          <a:effectLst/>
        </p:spPr>
      </p:pic>
      <p:pic>
        <p:nvPicPr>
          <p:cNvPr id="16" name="Picture 15" descr="s6_sh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109" y="5412882"/>
            <a:ext cx="8853222" cy="40306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微软雅黑" panose="020B0503020204020204" charset="-122"/>
              </a:rPr>
              <a:t>DDQN 在线训练机制与阶段安排</a:t>
            </a:r>
            <a:endParaRPr sz="20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微软雅黑" panose="020B0503020204020204" charset="-122"/>
              </a:rPr>
              <a:t>每只蚂蚁构造一个完整调度方案视为一个 episode。算法边构造解、边存储经验，并用 Replay Buffer 在线更新 MLP-DDQN；RL 的影响强度 κ 分阶段逐步增大。</a:t>
            </a:r>
            <a:endParaRPr sz="13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61160"/>
            <a:ext cx="10972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29840"/>
            <a:ext cx="5029200" cy="16800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54864" rIns="118872" bIns="54864" rtlCol="0" anchor="ctr"/>
          <a:lstStyle/>
          <a:p>
            <a:pPr algn="l">
              <a:spcAft>
                <a:spcPts val="150"/>
              </a:spcAft>
            </a:pPr>
            <a:r>
              <a:rPr sz="1150" b="1">
                <a:solidFill>
                  <a:srgbClr val="2F5597"/>
                </a:solidFill>
                <a:latin typeface="微软雅黑" panose="020B0503020204020204" charset="-122"/>
              </a:rPr>
              <a:t>在线训练怎么做</a:t>
            </a:r>
            <a:endParaRPr sz="11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Warm-up 阶段不让 DDQN 参与选择，先统计 Tref。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每一步把 (sₜ,vₜ,Rₜ,sₜ₊₁,Aₜ₊₁) 存入 Replay Buffer。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采用 Double DQN 目标更新 Qθ，降低过估计。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定期同步目标网络：θ⁻ ← θ。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06440" y="2529840"/>
            <a:ext cx="5029200" cy="16800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54864" rIns="118872" bIns="54864" rtlCol="0" anchor="ctr"/>
          <a:lstStyle/>
          <a:p>
            <a:pPr algn="l">
              <a:spcAft>
                <a:spcPts val="150"/>
              </a:spcAft>
            </a:pPr>
            <a:r>
              <a:rPr sz="1150" b="1">
                <a:solidFill>
                  <a:srgbClr val="2F5597"/>
                </a:solidFill>
                <a:latin typeface="微软雅黑" panose="020B0503020204020204" charset="-122"/>
              </a:rPr>
              <a:t>为什么要分阶段</a:t>
            </a:r>
            <a:endParaRPr sz="11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早期 Q 值不稳定，不能直接主导蚂蚁构造。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让 κ 从小到大，逐步提高 DDQN Advantage 的校正作用。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后期降低学习率并冻结网络，稳定输出 Pareto 档案。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Warm-up
1–30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τ+η 构造
统计 Tref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914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轻度 RL
31–90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开始训练
κ:0.1→0.4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85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强 RL
91–240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正式辅助
κ:0.4→1.0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856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收敛训练
241–280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降学习率
κ:1.0→1.2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3827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冻结输出
281–300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冻结 DDQN
只辅助构造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97280" y="5532120"/>
            <a:ext cx="9418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微软雅黑" panose="020B0503020204020204" charset="-122"/>
              </a:rPr>
              <a:t>核心安排：Warm-up 先稳定奖励尺度与经验样本；随后逐步增大 κ，使 DDQN 从“轻度校正”过渡到“稳定辅助构造”。</a:t>
            </a:r>
            <a:endParaRPr sz="12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pic>
        <p:nvPicPr>
          <p:cNvPr id="13" name="Picture 12" descr="s7_sh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732483"/>
            <a:ext cx="10314432" cy="45171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算法整理流程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4572000" cy="256032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生成三元候选节点 V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754880" cy="566928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task / satellite / window → vⱼᵢₖ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4572000" cy="256032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构建冲突图 G=(V,E)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754880" cy="566928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任务重复、窗口重叠、姿态转移不足连边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4572000" cy="256032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初始化 MOACO 与 DDQN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566928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τ(v)、η(v)、Pareto 档案、MLP-DDQN、Replay Buffer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4370832"/>
            <a:ext cx="4572000" cy="256032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Warm-up 阶段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59"/>
            <a:ext cx="4754880" cy="566928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只用 τ+η 构造解，统计 Tref，收集原始轨迹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0" y="960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941832"/>
            <a:ext cx="4572000" cy="256032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冲突图动作掩码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4754880" cy="566928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943600" y="2103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2084831"/>
            <a:ext cx="4572000" cy="256032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DDQN 计算节点 Q 值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4754880" cy="566928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943600" y="3246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3227832"/>
            <a:ext cx="4572000" cy="256032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状态感知节点选择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4754880" cy="566928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943600" y="4389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4370832"/>
            <a:ext cx="4572000" cy="256032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奖励、档案与信息素更新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59"/>
            <a:ext cx="4754880" cy="566928"/>
          </a:xfrm>
          <a:prstGeom prst="rect">
            <a:avLst/>
          </a:prstGeom>
          <a:noFill/>
          <a:effectLst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缩放即时奖励 + Pareto 终局奖励；更新 Archive 与 τ(v)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97280" y="5715000"/>
            <a:ext cx="9326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500" b="0">
                <a:solidFill>
                  <a:srgbClr val="282828"/>
                </a:solidFill>
                <a:latin typeface="微软雅黑" panose="020B0503020204020204" charset="-122"/>
              </a:rPr>
              <a:t>输出：Pareto 档案中的非支配调度方案集合</a:t>
            </a:r>
            <a:endParaRPr sz="15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pic>
        <p:nvPicPr>
          <p:cNvPr id="28" name="Picture 27" descr="s8_sh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4886" y="1348191"/>
            <a:ext cx="4469588" cy="430866"/>
          </a:xfrm>
          <a:prstGeom prst="rect">
            <a:avLst/>
          </a:prstGeom>
          <a:effectLst/>
        </p:spPr>
      </p:pic>
      <p:pic>
        <p:nvPicPr>
          <p:cNvPr id="29" name="Picture 28" descr="s8_sh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2491191"/>
            <a:ext cx="4469588" cy="430866"/>
          </a:xfrm>
          <a:prstGeom prst="rect">
            <a:avLst/>
          </a:prstGeom>
          <a:effectLst/>
        </p:spPr>
      </p:pic>
      <p:pic>
        <p:nvPicPr>
          <p:cNvPr id="30" name="Picture 29" descr="s8_sh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3634191"/>
            <a:ext cx="4469588" cy="430866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3.05,&quot;left&quot;:64.8,&quot;top&quot;:241.35,&quot;width&quot;:777.6}"/>
</p:tagLst>
</file>

<file path=ppt/tags/tag2.xml><?xml version="1.0" encoding="utf-8"?>
<p:tagLst xmlns:p="http://schemas.openxmlformats.org/presentationml/2006/main">
  <p:tag name="KSO_WM_DIAGRAM_VIRTUALLY_FRAME" val="{&quot;height&quot;:223.05,&quot;left&quot;:64.8,&quot;top&quot;:241.35,&quot;width&quot;:777.6}"/>
</p:tagLst>
</file>

<file path=ppt/tags/tag3.xml><?xml version="1.0" encoding="utf-8"?>
<p:tagLst xmlns:p="http://schemas.openxmlformats.org/presentationml/2006/main">
  <p:tag name="KSO_WM_DIAGRAM_VIRTUALLY_FRAME" val="{&quot;height&quot;:223.05,&quot;left&quot;:64.8,&quot;top&quot;:241.35,&quot;width&quot;:777.6}"/>
</p:tagLst>
</file>

<file path=ppt/tags/tag4.xml><?xml version="1.0" encoding="utf-8"?>
<p:tagLst xmlns:p="http://schemas.openxmlformats.org/presentationml/2006/main">
  <p:tag name="KSO_WM_DIAGRAM_VIRTUALLY_FRAME" val="{&quot;height&quot;:223.05,&quot;left&quot;:64.8,&quot;top&quot;:241.35,&quot;width&quot;:777.6}"/>
</p:tagLst>
</file>

<file path=ppt/tags/tag5.xml><?xml version="1.0" encoding="utf-8"?>
<p:tagLst xmlns:p="http://schemas.openxmlformats.org/presentationml/2006/main">
  <p:tag name="COMMONDATA" val="eyJoZGlkIjoiNDNhZjYzMWQ5OGY2M2FiNDE3MDVlODgxYzkwYTQ4OTYifQ=="/>
  <p:tag name="RESOURCE_RECORD_KEY" val="{&quot;10&quot;:[2160123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Microsoft YaHei UI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2698</Words>
  <Application>WPS 演示</Application>
  <PresentationFormat>宽屏</PresentationFormat>
  <Paragraphs>238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Microsoft YaHei UI</vt:lpstr>
      <vt:lpstr>Arial Unicode MS</vt:lpstr>
      <vt:lpstr>Calibri</vt:lpstr>
      <vt:lpstr>MS PGothic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刘士豪</dc:creator>
  <cp:lastModifiedBy>茶哈哈</cp:lastModifiedBy>
  <cp:revision>122</cp:revision>
  <dcterms:created xsi:type="dcterms:W3CDTF">2023-08-09T12:44:00Z</dcterms:created>
  <dcterms:modified xsi:type="dcterms:W3CDTF">2026-06-29T10:34:06Z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84D6F44F6EE449F898692DA43BD58758_13</vt:lpwstr>
  </property>
  <property fmtid="{D5CDD505-2E9C-101B-9397-08002B2CF9AE}" pid="3" name="KSOProductBuildVer">
    <vt:lpwstr>2052-12.1.0.26895</vt:lpwstr>
  </property>
</Properties>
</file>