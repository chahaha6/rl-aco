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8" r:id="rId3"/>
    <p:sldId id="360" r:id="rId5"/>
    <p:sldId id="350" r:id="rId6"/>
    <p:sldId id="353" r:id="rId7"/>
    <p:sldId id="351" r:id="rId8"/>
    <p:sldId id="352" r:id="rId9"/>
    <p:sldId id="361" r:id="rId15"/>
    <p:sldId id="354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4CB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8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.pn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/>
              </a:rPr>
              <a:t>创新点1：任务–卫星–窗口三元冲突图建模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0515600" cy="12801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/>
              </a:rPr>
              <a:t>首先，将每一个候选观测方案表示为三元节点：vⱼᵢₖ = (taskⱼ, satᵢ, windowₖ)。</a:t>
            </a:r>
          </a:p>
          <a:p>
            <a:r>
              <a:rPr sz="1800" b="0">
                <a:solidFill>
                  <a:srgbClr val="282828"/>
                </a:solidFill>
                <a:latin typeface="微软雅黑"/>
              </a:rPr>
              <a:t>它表示任务 j 由卫星 i 在第 k 个可见时间窗口内执行。算法搜索的基本单元不是“任务”，而是“任务–卫星–窗口候选节点”。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2423160"/>
            <a:ext cx="9144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900" b="0">
                <a:solidFill>
                  <a:srgbClr val="282828"/>
                </a:solidFill>
                <a:latin typeface="微软雅黑"/>
              </a:rPr>
              <a:t>V = { v₁, v₂, …, v_N }，一个完整调度方案表示为 X ⊆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37560"/>
            <a:ext cx="10332720" cy="21031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700" b="0">
                <a:solidFill>
                  <a:srgbClr val="282828"/>
                </a:solidFill>
                <a:latin typeface="微软雅黑"/>
              </a:rPr>
              <a:t>其次，根据调度约束构建冲突图 G=(V,E)。V 表示所有候选节点集合，E 表示冲突边集合。</a:t>
            </a:r>
          </a:p>
          <a:p>
            <a:r>
              <a:rPr sz="1700" b="0">
                <a:solidFill>
                  <a:srgbClr val="282828"/>
                </a:solidFill>
                <a:latin typeface="微软雅黑"/>
              </a:rPr>
              <a:t>若 (u,v)∈E，则节点 u 和 v 不能同时被选择。冲突边主要来自三类约束：</a:t>
            </a:r>
          </a:p>
          <a:p>
            <a:r>
              <a:rPr sz="1700" b="0">
                <a:solidFill>
                  <a:srgbClr val="282828"/>
                </a:solidFill>
                <a:latin typeface="微软雅黑"/>
              </a:rPr>
              <a:t>1. 同一任务重复观测冲突：同一个任务最多执行一次。</a:t>
            </a:r>
          </a:p>
          <a:p>
            <a:r>
              <a:rPr sz="1700" b="0">
                <a:solidFill>
                  <a:srgbClr val="282828"/>
                </a:solidFill>
                <a:latin typeface="微软雅黑"/>
              </a:rPr>
              <a:t>2. 同一卫星时间窗口重叠冲突：同星观测窗口发生交叉。</a:t>
            </a:r>
          </a:p>
          <a:p>
            <a:r>
              <a:rPr sz="1700" b="0">
                <a:solidFill>
                  <a:srgbClr val="282828"/>
                </a:solidFill>
                <a:latin typeface="微软雅黑"/>
              </a:rPr>
              <a:t>3. 姿态转移时间不足冲突：连续观测之间无法完成姿态机动。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557784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700" b="0">
                <a:solidFill>
                  <a:srgbClr val="282828"/>
                </a:solidFill>
                <a:latin typeface="微软雅黑"/>
              </a:rPr>
              <a:t>可行调度方案 X ⇔ 冲突图中的独立集：∀u,v∈X，(u,v)∉E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/>
              </a:rPr>
              <a:t>创新点1：从候选窗口到冲突图，再到可行调度解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14400"/>
            <a:ext cx="1920240" cy="310896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282828"/>
                </a:solidFill>
                <a:latin typeface="微软雅黑"/>
              </a:rPr>
              <a:t>展开成节点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2057400" cy="274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微软雅黑"/>
              </a:rPr>
              <a:t>一个窗口 = 一个候选节点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v₇,₁,₁</a:t>
            </a:r>
          </a:p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t7 · s1</a:t>
            </a:r>
          </a:p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08:10–08:14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69164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v₁₂,₁,₁</a:t>
            </a:r>
          </a:p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t12 · s1</a:t>
            </a:r>
          </a:p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08:18–08:21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56032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v₇,₂,₁</a:t>
            </a:r>
          </a:p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t7 · s2</a:t>
            </a:r>
          </a:p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09:20–09:24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56032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v₃₁,₃,₁</a:t>
            </a:r>
          </a:p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t31 · s3</a:t>
            </a:r>
          </a:p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10:05–10:10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657600"/>
            <a:ext cx="2423160" cy="50292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/>
              </a:rPr>
              <a:t>节点字段</a:t>
            </a:r>
          </a:p>
          <a:p>
            <a:pPr algn="ctr"/>
            <a:r>
              <a:rPr sz="980" b="0">
                <a:solidFill>
                  <a:srgbClr val="282828"/>
                </a:solidFill>
                <a:latin typeface="微软雅黑"/>
              </a:rPr>
              <a:t>node_id / task_id / sat_id / window_id / start / end /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914400"/>
            <a:ext cx="1920240" cy="310896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282828"/>
                </a:solidFill>
                <a:latin typeface="微软雅黑"/>
              </a:rPr>
              <a:t>编码成部分解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423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0">
                <a:solidFill>
                  <a:srgbClr val="282828"/>
                </a:solidFill>
                <a:latin typeface="微软雅黑"/>
              </a:rPr>
              <a:t>Xₜ = { v₇,₁,₁, v₁₂,₁,₁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423160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/>
              </a:rPr>
              <a:t>v₇,₁,₁</a:t>
            </a:r>
          </a:p>
          <a:p>
            <a:pPr algn="ctr"/>
            <a:r>
              <a:rPr sz="980" b="0">
                <a:solidFill>
                  <a:srgbClr val="282828"/>
                </a:solidFill>
                <a:latin typeface="微软雅黑"/>
              </a:rPr>
              <a:t>t7 · s1  08:10–08:14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172968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/>
              </a:rPr>
              <a:t>v₁₂,₁,₁</a:t>
            </a:r>
          </a:p>
          <a:p>
            <a:pPr algn="ctr"/>
            <a:r>
              <a:rPr sz="980" b="0">
                <a:solidFill>
                  <a:srgbClr val="282828"/>
                </a:solidFill>
                <a:latin typeface="微软雅黑"/>
              </a:rPr>
              <a:t>t12 · s1  08:18–08:21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922776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/>
              </a:rPr>
              <a:t>v₃₁,₃,₁</a:t>
            </a:r>
          </a:p>
          <a:p>
            <a:pPr algn="ctr"/>
            <a:r>
              <a:rPr sz="980" b="0">
                <a:solidFill>
                  <a:srgbClr val="282828"/>
                </a:solidFill>
                <a:latin typeface="微软雅黑"/>
              </a:rPr>
              <a:t>t31 · s3  10:05–10:10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709160"/>
            <a:ext cx="2606040" cy="7315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/>
              </a:rPr>
              <a:t>如果某个新节点与 Xₜ 中任意节点有冲突边，则不能加入。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914400"/>
            <a:ext cx="1188720" cy="274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300" b="1">
                <a:solidFill>
                  <a:srgbClr val="282828"/>
                </a:solidFill>
                <a:latin typeface="微软雅黑"/>
              </a:rPr>
              <a:t>候选节点池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2588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v₁</a:t>
            </a:r>
          </a:p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t7 · s1</a:t>
            </a:r>
          </a:p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08:10–08:14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14884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v₂</a:t>
            </a:r>
          </a:p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t7 · s2</a:t>
            </a:r>
          </a:p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09:20–09:24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7180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v₃</a:t>
            </a:r>
          </a:p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t12 · s1</a:t>
            </a:r>
          </a:p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08:12–08:16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79476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v₄</a:t>
            </a:r>
          </a:p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t31 · s1</a:t>
            </a:r>
          </a:p>
          <a:p>
            <a:pPr algn="ctr"/>
            <a:r>
              <a:rPr sz="950" b="0">
                <a:solidFill>
                  <a:srgbClr val="282828"/>
                </a:solidFill>
                <a:latin typeface="微软雅黑"/>
              </a:rPr>
              <a:t>08:18–08:21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800600"/>
            <a:ext cx="1828800" cy="502920"/>
          </a:xfrm>
          <a:prstGeom prst="roundRect">
            <a:avLst/>
          </a:prstGeom>
          <a:solidFill>
            <a:srgbClr val="FFF5C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两两判断：</a:t>
            </a:r>
          </a:p>
          <a:p>
            <a:pPr algn="ctr"/>
            <a:r>
              <a:rPr sz="1050" b="0">
                <a:solidFill>
                  <a:srgbClr val="282828"/>
                </a:solidFill>
                <a:latin typeface="微软雅黑"/>
              </a:rPr>
              <a:t>不能同时选就连边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914400"/>
            <a:ext cx="1828800" cy="274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300" b="1">
                <a:solidFill>
                  <a:srgbClr val="282828"/>
                </a:solidFill>
                <a:latin typeface="微软雅黑"/>
              </a:rPr>
              <a:t>生成冲突图 G=(V,E)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9235440" y="1645920"/>
            <a:ext cx="1188720" cy="228599"/>
          </a:xfrm>
          <a:prstGeom prst="line">
            <a:avLst/>
          </a:prstGeom>
          <a:ln w="2540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1874519"/>
            <a:ext cx="182880" cy="1508761"/>
          </a:xfrm>
          <a:prstGeom prst="line">
            <a:avLst/>
          </a:prstGeom>
          <a:ln w="2540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18320" y="3383280"/>
            <a:ext cx="1005840" cy="548640"/>
          </a:xfrm>
          <a:prstGeom prst="line">
            <a:avLst/>
          </a:prstGeom>
          <a:ln w="2540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06840" y="164592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/>
              </a:rPr>
              <a:t>v₁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141732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/>
              </a:rPr>
              <a:t>v₂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315468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/>
              </a:rPr>
              <a:t>v₃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60" y="370332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/>
              </a:rPr>
              <a:t>v₄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2148840"/>
            <a:ext cx="731520" cy="384048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850" b="0">
                <a:solidFill>
                  <a:srgbClr val="282828"/>
                </a:solidFill>
                <a:latin typeface="微软雅黑"/>
              </a:rPr>
              <a:t>同任务</a:t>
            </a:r>
          </a:p>
          <a:p>
            <a:pPr algn="ctr"/>
            <a:r>
              <a:rPr sz="850" b="0">
                <a:solidFill>
                  <a:srgbClr val="282828"/>
                </a:solidFill>
                <a:latin typeface="微软雅黑"/>
              </a:rPr>
              <a:t>互斥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2606040"/>
            <a:ext cx="731520" cy="384048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850" b="0">
                <a:solidFill>
                  <a:srgbClr val="282828"/>
                </a:solidFill>
                <a:latin typeface="微软雅黑"/>
              </a:rPr>
              <a:t>同星</a:t>
            </a:r>
          </a:p>
          <a:p>
            <a:pPr algn="ctr"/>
            <a:r>
              <a:rPr sz="850" b="0">
                <a:solidFill>
                  <a:srgbClr val="282828"/>
                </a:solidFill>
                <a:latin typeface="微软雅黑"/>
              </a:rPr>
              <a:t>重叠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920" y="4251960"/>
            <a:ext cx="731520" cy="384048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850" b="0">
                <a:solidFill>
                  <a:srgbClr val="282828"/>
                </a:solidFill>
                <a:latin typeface="微软雅黑"/>
              </a:rPr>
              <a:t>机动</a:t>
            </a:r>
          </a:p>
          <a:p>
            <a:pPr algn="ctr"/>
            <a:r>
              <a:rPr sz="850" b="0">
                <a:solidFill>
                  <a:srgbClr val="282828"/>
                </a:solidFill>
                <a:latin typeface="微软雅黑"/>
              </a:rPr>
              <a:t>不足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892040"/>
            <a:ext cx="2377440" cy="7315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/>
              </a:rPr>
              <a:t>冲突图的价值：构造前就知道哪些组合不可行。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/>
              </a:rPr>
              <a:t>创新点2：基于冲突图动作掩码的可行构造机制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0424160" cy="9144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/>
              </a:rPr>
              <a:t>蚂蚁从空解开始逐步选择候选节点。当前已选节点集合为 Xₜ，下一步不是从全部 V 中选，而是从冲突图掩码后的可行动作集合 Aₜ 中选。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148840"/>
            <a:ext cx="9326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2200" b="0">
                <a:solidFill>
                  <a:srgbClr val="282828"/>
                </a:solidFill>
                <a:latin typeface="微软雅黑"/>
              </a:rPr>
              <a:t>Aₜ = { v ∈ V | v ∉ Xₜ,  N(v) ∩ Xₜ = ∅ 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4937760" cy="17830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76200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动作掩码的作用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N(v) 是节点 v 在冲突图中的邻域。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若 N(v)∩Xₜ≠∅，说明 v 与当前部分解冲突，直接屏蔽。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构造过程中 Xₜ 始终保持可行，不需要事后大规模修复。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154680"/>
            <a:ext cx="4389120" cy="17830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76200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这一点的核心思想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RL 不负责学习硬约束。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RL 只在可行动作空间 Aₜ 内学习“哪个节点更值得选”。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冲突图负责可行性，学习模块负责选择质量。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5303520"/>
            <a:ext cx="8412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/>
              </a:rPr>
              <a:t>选择 vₜ 后：Xₜ₊₁ = Xₜ ∪ {vₜ}，Aₜ₊₁ = Aₜ − {vₜ} − N(vₜ)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/>
              </a:rPr>
              <a:t>创新点3：MLP-DDQN 辅助的候选节点价值学习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332720" cy="7772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700" b="0">
                <a:solidFill>
                  <a:srgbClr val="282828"/>
                </a:solidFill>
                <a:latin typeface="微软雅黑"/>
              </a:rPr>
              <a:t>将蚂蚁逐节点构造调度方案的过程建模为 MDP。状态表示当前构造局面，动作表示选择一个当前可行候选节点。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874519"/>
            <a:ext cx="8778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2200" b="0">
                <a:solidFill>
                  <a:srgbClr val="282828"/>
                </a:solidFill>
                <a:latin typeface="微软雅黑"/>
              </a:rPr>
              <a:t>Qθ(sₜ,v) = MLP([ gₜ, h(v) 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3200400" cy="20116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76200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状态特征 gₜ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当前收益比例 Profitₜ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累计机动代价 Maneuverₜ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负载不均衡 LoadStdₜ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剩余可选比例 AvailableRatioₜ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平均冲突度 AvgConflictₜ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迭代进度 IterRatio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2743200"/>
            <a:ext cx="3246120" cy="20116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76200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节点特征 h(v)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任务收益 p(v)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窗口稀缺度 R(v)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节点冲突度 C(v)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插入机动代价 M(v)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卫星当前负载 L(sᵢ)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信息素 τ(v)、启发式 η(v)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BlockPenalty(v)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743200"/>
            <a:ext cx="3063240" cy="20116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76200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DDQN 学的是什么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不是替代 MOACO。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不是直接输出完整解。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学习在当前状态 sₜ 下，候选节点 v 的长期选择价值。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9692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/>
              </a:rPr>
              <a:t>aₜ = v ∈ Aₜ，选择动作会改变后续仍然可选的节点集合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/>
              </a:rPr>
              <a:t>创新点4：基于 Advantage 校正的状态感知节点选择机制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332720" cy="685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600" b="0">
                <a:solidFill>
                  <a:srgbClr val="282828"/>
                </a:solidFill>
                <a:latin typeface="微软雅黑"/>
              </a:rPr>
              <a:t>传统 MOACO 中，信息素 τ(v) 反映历史经验，启发式 η(v) 反映静态结构质量。二者先给出 ACO 基础吸引力。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91640"/>
            <a:ext cx="91440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2000" b="0">
                <a:solidFill>
                  <a:srgbClr val="282828"/>
                </a:solidFill>
                <a:latin typeface="微软雅黑"/>
              </a:rPr>
              <a:t>Bₜ(v) = α log τ(v) + β log η(v)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10058400" cy="5943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600" b="0">
                <a:solidFill>
                  <a:srgbClr val="282828"/>
                </a:solidFill>
                <a:latin typeface="微软雅黑"/>
              </a:rPr>
              <a:t>DDQN 不直接把绝对 Q 值作为第三个加数，而是先计算当前可行动作集合内的平均 Q 值，再得到相对优势项。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54680"/>
            <a:ext cx="4572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/>
              </a:rPr>
              <a:t>Q̄ₜ = (1/|Aₜ|) Σᵤ∈Aₜ Qθ(sₜ,u)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3154680"/>
            <a:ext cx="4572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/>
              </a:rPr>
              <a:t>Advθ(sₜ,v) = Qθ(sₜ,v) − Q̄ₜ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9875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/>
              </a:rPr>
              <a:t>P(v|sₜ) = exp(Bₜ(v)+κAdvθ(sₜ,v)) / Σᵤ∈Aₜ exp(Bₜ(u)+κAdvθ(sₜ,u))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4389120" cy="82296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76200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这样写的含义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ACO 给基础偏好，DDQN 只做状态相关校正。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5074920"/>
            <a:ext cx="4389120" cy="8229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76200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避免的问题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避免被理解为“信息素 + 启发式 + Q 值”简单相加。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06425" y="2564130"/>
                <a:ext cx="10627995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快速插入：对于当前解 </a:t>
                </a:r>
                <a:r>
                  <a:rPr lang="en-US" altLang="zh-CN"/>
                  <a:t>X，</a:t>
                </a:r>
                <a:r>
                  <a:rPr lang="zh-CN" altLang="en-US"/>
                  <a:t>首先找出未调度任务对应的候选节点集合：</a:t>
                </a:r>
                <a:r>
                  <a:rPr lang="en-US" altLang="zh-CN"/>
                  <a:t>U = {v ∈ V | task(v)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∉</m:t>
                    </m:r>
                  </m:oMath>
                </a14:m>
                <a:r>
                  <a:rPr lang="en-US" altLang="zh-CN"/>
                  <a:t> task(X)}</a:t>
                </a:r>
                <a:r>
                  <a:rPr lang="zh-CN" altLang="en-US"/>
                  <a:t>；对每个候选节点 </a:t>
                </a:r>
                <a:r>
                  <a:rPr lang="en-US" altLang="zh-CN"/>
                  <a:t>v ∈ U ，</a:t>
                </a:r>
                <a:r>
                  <a:rPr lang="zh-CN" altLang="en-US"/>
                  <a:t>判断其是否可以直接插入当前解：</a:t>
                </a:r>
                <a:r>
                  <a:rPr lang="en-US" altLang="zh-CN"/>
                  <a:t>N (v)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∩</m:t>
                    </m:r>
                  </m:oMath>
                </a14:m>
                <a:r>
                  <a:rPr lang="en-US" altLang="zh-CN"/>
                  <a:t> X 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∅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若成立，则直接插入。</a:t>
                </a:r>
                <a:br>
                  <a:rPr lang="zh-CN" altLang="en-US"/>
                </a:br>
                <a:br>
                  <a:rPr lang="en-US" altLang="zh-CN"/>
                </a:br>
                <a:r>
                  <a:rPr lang="zh-CN" altLang="en-US"/>
                  <a:t>在插入前，要先对候选节点进行一个排序</a:t>
                </a:r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25" y="2564130"/>
                <a:ext cx="10627995" cy="11988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/>
              </a:rPr>
              <a:t>DDQN 训练奖励：缩放即时构造奖励 + Pareto 终局奖励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332720" cy="685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600" b="0">
                <a:solidFill>
                  <a:srgbClr val="282828"/>
                </a:solidFill>
                <a:latin typeface="微软雅黑"/>
              </a:rPr>
              <a:t>奖励不直接使用 HV。每步奖励评价当前动作的局部构造质量；最终奖励评价完整解是否进入 Pareto 档案。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9875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/>
              </a:rPr>
              <a:t>cₜ = 1/3(ΔProfit̂ − ΔManeuver̂ − ΔLoad̂) − 0.2·BlockPenalty(v)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4754880" cy="16002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76200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每步奖励评价什么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收益提升：ΔProfit̂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机动代价增加：ΔManeuver̂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负载不均衡变化：ΔLoad̂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选择该节点后屏蔽后续高收益节点的比例：BlockPenalty(v)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606040"/>
            <a:ext cx="4572000" cy="16002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76200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为什么要缩放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一个完整解通常需要多步构造。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若每步奖励不缩放，累计即时奖励会淹没终局 Pareto 奖励。</a:t>
            </a:r>
          </a:p>
          <a:p>
            <a:pPr/>
            <a:r>
              <a:rPr sz="1350">
                <a:solidFill>
                  <a:srgbClr val="282828"/>
                </a:solidFill>
                <a:latin typeface="微软雅黑"/>
              </a:rPr>
              <a:t>• Warm-up 阶段估计平均构造长度 Tref。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526280"/>
            <a:ext cx="4343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700" b="0">
                <a:solidFill>
                  <a:srgbClr val="282828"/>
                </a:solidFill>
                <a:latin typeface="微软雅黑"/>
              </a:rPr>
              <a:t>rₜ = clip(cₜ,−1,1) / Tref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4526280"/>
            <a:ext cx="4434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500" b="0">
                <a:solidFill>
                  <a:srgbClr val="282828"/>
                </a:solidFill>
                <a:latin typeface="微软雅黑"/>
              </a:rPr>
              <a:t>rfinal = 1，若 X 进入 Pareto 档案；否则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349240"/>
            <a:ext cx="9418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700" b="0">
                <a:solidFill>
                  <a:srgbClr val="282828"/>
                </a:solidFill>
                <a:latin typeface="微软雅黑"/>
              </a:rPr>
              <a:t>Rₜ = rₜ  (t&lt;T)，最后一步 R_T = r_T + rfinal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/>
              </a:rPr>
              <a:t>算法整理流程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457200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/>
              </a:rPr>
              <a:t>生成三元候选节点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4754880" cy="56692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/>
              </a:rPr>
              <a:t>task / satellite / window → vⱼᵢₖ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84831"/>
            <a:ext cx="457200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/>
              </a:rPr>
              <a:t>构建冲突图 G=(V,E)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4754880" cy="56692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/>
              </a:rPr>
              <a:t>任务重复、窗口重叠、姿态转移不足连边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457200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/>
              </a:rPr>
              <a:t>初始化 MOACO 与 DDQN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754880" cy="56692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/>
              </a:rPr>
              <a:t>τ(v)、η(v)、Pareto 档案、MLP-DDQN、Replay Buffer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70832"/>
            <a:ext cx="457200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/>
              </a:rPr>
              <a:t>Warm-up 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59"/>
            <a:ext cx="4754880" cy="56692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/>
              </a:rPr>
              <a:t>只用 τ+η 构造解，统计 Tref，收集原始轨迹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960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941832"/>
            <a:ext cx="457200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/>
              </a:rPr>
              <a:t>冲突图动作掩码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280160"/>
            <a:ext cx="4754880" cy="56692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/>
              </a:rPr>
              <a:t>根据 Aₜ={v|N(v)∩Xₜ=∅} 得到当前可选节点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103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84831"/>
            <a:ext cx="457200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/>
              </a:rPr>
              <a:t>DDQN 计算节点 Q 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4754880" cy="56692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/>
              </a:rPr>
              <a:t>Qθ(sₜ,v)=MLP([gₜ,h(v)])，并计算 Advθ(sₜ,v)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246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27832"/>
            <a:ext cx="457200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/>
              </a:rPr>
              <a:t>状态感知节点选择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4754880" cy="56692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/>
              </a:rPr>
              <a:t>P(v|sₜ) ∝ τ(v)^α η(v)^β exp(κAdvθ(sₜ,v))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389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70832"/>
            <a:ext cx="457200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/>
              </a:rPr>
              <a:t>奖励、档案与信息素更新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09159"/>
            <a:ext cx="4754880" cy="56692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/>
              </a:rPr>
              <a:t>缩放即时奖励 + Pareto 终局奖励；更新 Archive 与 τ(v)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715000"/>
            <a:ext cx="93268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500" b="0">
                <a:solidFill>
                  <a:srgbClr val="282828"/>
                </a:solidFill>
                <a:latin typeface="微软雅黑"/>
              </a:rPr>
              <a:t>输出：Pareto 档案中的非支配调度方案集合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F5597"/>
                </a:solidFill>
                <a:latin typeface="微软雅黑"/>
              </a:rPr>
              <a:t>DDQN 在线训练机制与阶段安排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微软雅黑"/>
              </a:rPr>
              <a:t>每只蚂蚁构造一个完整调度方案视为一个 episode。算法边构造解、边存储经验，并用 Replay Buffer 在线更新 MLP-DDQN；RL 的影响强度 κ 分阶段逐步增大。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61160"/>
            <a:ext cx="10972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282828"/>
                </a:solidFill>
                <a:latin typeface="微软雅黑"/>
              </a:rPr>
              <a:t>transition = (sₜ, vₜ, Rₜ, sₜ₊₁, Aₜ₊₁)      yₜ = Rₜ + γ Qθ⁻(sₜ₊₁, argmaxᵤ Qθ(sₜ₊₁,u))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29840"/>
            <a:ext cx="5029200" cy="16800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54864" bIns="54864"/>
          <a:lstStyle/>
          <a:p>
            <a:pPr algn="l">
              <a:spcAft>
                <a:spcPts val="150"/>
              </a:spcAft>
            </a:pPr>
            <a:r>
              <a:rPr sz="1150" b="1">
                <a:solidFill>
                  <a:srgbClr val="2F5597"/>
                </a:solidFill>
                <a:latin typeface="微软雅黑"/>
              </a:rPr>
              <a:t>在线训练怎么做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/>
              </a:rPr>
              <a:t>• Warm-up 阶段不让 DDQN 参与选择，先统计 Tref。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/>
              </a:rPr>
              <a:t>• 每一步把 (sₜ,vₜ,Rₜ,sₜ₊₁,Aₜ₊₁) 存入 Replay Buffer。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/>
              </a:rPr>
              <a:t>• 采用 Double DQN 目标更新 Qθ，降低过估计。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/>
              </a:rPr>
              <a:t>• 定期同步目标网络：θ⁻ ← 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2529840"/>
            <a:ext cx="5029200" cy="16800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54864" bIns="54864"/>
          <a:lstStyle/>
          <a:p>
            <a:pPr algn="l">
              <a:spcAft>
                <a:spcPts val="150"/>
              </a:spcAft>
            </a:pPr>
            <a:r>
              <a:rPr sz="1150" b="1">
                <a:solidFill>
                  <a:srgbClr val="2F5597"/>
                </a:solidFill>
                <a:latin typeface="微软雅黑"/>
              </a:rPr>
              <a:t>为什么要分阶段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/>
              </a:rPr>
              <a:t>• 早期 Q 值不稳定，不能直接主导蚂蚁构造。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/>
              </a:rPr>
              <a:t>• 让 κ 从小到大，逐步提高 DDQN Advantage 的校正作用。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/>
              </a:rPr>
              <a:t>• 后期降低学习率并冻结网络，稳定输出 Pareto 档案。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/>
              </a:rPr>
              <a:t>Warm-up
1–30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微软雅黑"/>
              </a:rPr>
              <a:t>τ+η 构造
统计 Tref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14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/>
              </a:rPr>
              <a:t>轻度 RL
31–90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微软雅黑"/>
              </a:rPr>
              <a:t>开始训练
κ:0.1→0.4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85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/>
              </a:rPr>
              <a:t>强 RL
91–240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微软雅黑"/>
              </a:rPr>
              <a:t>正式辅助
κ:0.4→1.0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856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/>
              </a:rPr>
              <a:t>收敛训练
241–280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微软雅黑"/>
              </a:rPr>
              <a:t>降学习率
κ:1.0→1.2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27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/>
              </a:rPr>
              <a:t>冻结输出
281–300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微软雅黑"/>
              </a:rPr>
              <a:t>冻结 DDQN
只辅助构造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532120"/>
            <a:ext cx="9418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82828"/>
                </a:solidFill>
                <a:latin typeface="微软雅黑"/>
              </a:rPr>
              <a:t>核心安排：Warm-up 先稳定奖励尺度与经验样本；随后逐步增大 κ，使 DDQN 从“轻度校正”过渡到“稳定辅助构造”。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COMMONDATA" val="eyJoZGlkIjoiNDNhZjYzMWQ5OGY2M2FiNDE3MDVlODgxYzkwYTQ4OTYifQ=="/>
  <p:tag name="RESOURCE_RECORD_KEY" val="{&quot;10&quot;:[21601234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Microsoft YaHei UI"/>
        <a:ea typeface="微软雅黑"/>
        <a:cs typeface=""/>
      </a:majorFont>
      <a:minorFont>
        <a:latin typeface="Microsoft YaHei UI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1788</Words>
  <Application>WPS 演示</Application>
  <PresentationFormat>宽屏</PresentationFormat>
  <Paragraphs>127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Cambria Math</vt:lpstr>
      <vt:lpstr>Microsoft YaHei UI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刘士豪</dc:creator>
  <cp:lastModifiedBy>茶哈哈</cp:lastModifiedBy>
  <cp:revision>119</cp:revision>
  <dcterms:created xsi:type="dcterms:W3CDTF">2023-08-09T12:44:00Z</dcterms:created>
  <dcterms:modified xsi:type="dcterms:W3CDTF">2026-06-25T08:39:26Z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84D6F44F6EE449F898692DA43BD58758_13</vt:lpwstr>
  </property>
  <property fmtid="{D5CDD505-2E9C-101B-9397-08002B2CF9AE}" pid="3" name="KSOProductBuildVer">
    <vt:lpwstr>2052-12.1.0.26895</vt:lpwstr>
  </property>
</Properties>
</file>