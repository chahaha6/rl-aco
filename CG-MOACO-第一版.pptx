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58" r:id="rId3"/>
    <p:sldId id="360" r:id="rId5"/>
    <p:sldId id="350" r:id="rId6"/>
    <p:sldId id="353" r:id="rId7"/>
    <p:sldId id="351" r:id="rId8"/>
    <p:sldId id="352" r:id="rId9"/>
    <p:sldId id="354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74CB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8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>
            <p:custDataLst>
              <p:tags r:id="rId1"/>
            </p:custDataLst>
          </p:nvPr>
        </p:nvSpPr>
        <p:spPr>
          <a:xfrm>
            <a:off x="73530" y="57785"/>
            <a:ext cx="11033819" cy="570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：任务–卫星–窗口三元冲突图建模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8460" y="1246505"/>
            <a:ext cx="113430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首先是根据：任务</a:t>
            </a:r>
            <a:r>
              <a:rPr lang="en-US" altLang="zh-CN"/>
              <a:t>-</a:t>
            </a:r>
            <a:r>
              <a:rPr lang="zh-CN" altLang="en-US"/>
              <a:t>卫星</a:t>
            </a:r>
            <a:r>
              <a:rPr lang="en-US" altLang="zh-CN"/>
              <a:t>-</a:t>
            </a:r>
            <a:r>
              <a:rPr lang="zh-CN" altLang="en-US"/>
              <a:t>时间窗口定义一个三元节点，表示任务 </a:t>
            </a:r>
            <a:r>
              <a:rPr lang="en-US" altLang="zh-CN"/>
              <a:t>j </a:t>
            </a:r>
            <a:r>
              <a:rPr lang="zh-CN" altLang="en-US"/>
              <a:t>被安排给卫星 </a:t>
            </a:r>
            <a:r>
              <a:rPr lang="en-US" altLang="zh-CN"/>
              <a:t>i，</a:t>
            </a:r>
            <a:r>
              <a:rPr lang="zh-CN" altLang="en-US"/>
              <a:t>并在第 </a:t>
            </a:r>
            <a:r>
              <a:rPr lang="en-US" altLang="zh-CN"/>
              <a:t>k </a:t>
            </a:r>
            <a:r>
              <a:rPr lang="zh-CN" altLang="en-US"/>
              <a:t>个可见时间窗口内执行。</a:t>
            </a:r>
            <a:r>
              <a:rPr lang="zh-CN" altLang="en-US" b="1"/>
              <a:t>这里是构建图</a:t>
            </a:r>
            <a:r>
              <a:rPr lang="zh-CN" altLang="en-US" b="1"/>
              <a:t>结构</a:t>
            </a:r>
            <a:br>
              <a:rPr lang="zh-CN" altLang="en-US" b="1"/>
            </a:br>
            <a:endParaRPr lang="zh-CN" altLang="en-US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260" y="1906905"/>
            <a:ext cx="6720205" cy="12903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8160" y="3438525"/>
            <a:ext cx="1126236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其次，根据</a:t>
            </a:r>
            <a:r>
              <a:rPr lang="zh-CN" altLang="en-US" b="1"/>
              <a:t>三元节点构建冲突图</a:t>
            </a:r>
            <a:r>
              <a:rPr lang="en-US" altLang="zh-CN" b="1"/>
              <a:t>G = (V, E</a:t>
            </a:r>
            <a:r>
              <a:rPr lang="zh-CN" altLang="en-US" b="1"/>
              <a:t>）。</a:t>
            </a:r>
            <a:r>
              <a:rPr lang="en-US" altLang="zh-CN" b="1"/>
              <a:t>V </a:t>
            </a:r>
            <a:r>
              <a:rPr lang="zh-CN" altLang="en-US" b="1"/>
              <a:t>表示所有任务–卫星–窗口候选节点集合，</a:t>
            </a:r>
            <a:r>
              <a:rPr lang="en-US" altLang="zh-CN" b="1"/>
              <a:t>E </a:t>
            </a:r>
            <a:r>
              <a:rPr lang="zh-CN" altLang="en-US" b="1"/>
              <a:t>表示冲突边集合。例如：</a:t>
            </a:r>
            <a:r>
              <a:rPr lang="en-US" altLang="zh-CN" b="1"/>
              <a:t>(va, vb) ∈ E </a:t>
            </a:r>
            <a:r>
              <a:rPr lang="zh-CN" altLang="en-US" b="1"/>
              <a:t>则表示，</a:t>
            </a:r>
            <a:r>
              <a:rPr lang="en-US" altLang="zh-CN" b="1"/>
              <a:t>a</a:t>
            </a:r>
            <a:r>
              <a:rPr lang="zh-CN" altLang="en-US" b="1"/>
              <a:t>、</a:t>
            </a:r>
            <a:r>
              <a:rPr lang="en-US" altLang="zh-CN" b="1"/>
              <a:t>b</a:t>
            </a:r>
            <a:r>
              <a:rPr lang="zh-CN" altLang="en-US" b="1"/>
              <a:t>节点不能同时选择。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冲突边的构建规则</a:t>
            </a:r>
            <a:r>
              <a:rPr lang="en-US" altLang="zh-CN"/>
              <a:t>:</a:t>
            </a:r>
            <a:r>
              <a:rPr lang="zh-CN" altLang="en-US"/>
              <a:t>本质按照卫星任务调度的约束条件去构建约束边</a:t>
            </a:r>
            <a:br>
              <a:rPr lang="zh-CN" altLang="en-US"/>
            </a:br>
            <a:r>
              <a:rPr lang="en-US" altLang="zh-CN"/>
              <a:t>		1.</a:t>
            </a:r>
            <a:r>
              <a:rPr lang="zh-CN" altLang="en-US"/>
              <a:t>同一任务重复观测冲突 同一个任务最多只能被执行一次</a:t>
            </a:r>
            <a:br>
              <a:rPr lang="zh-CN" altLang="en-US"/>
            </a:br>
            <a:r>
              <a:rPr lang="en-US" altLang="zh-CN"/>
              <a:t>		2.</a:t>
            </a:r>
            <a:r>
              <a:rPr lang="zh-CN" altLang="en-US"/>
              <a:t>同一卫星时间窗口重叠冲突 若两个节点由同一颗卫星执行且时间窗口发生重叠</a:t>
            </a:r>
            <a:br>
              <a:rPr lang="zh-CN" altLang="en-US"/>
            </a:br>
            <a:r>
              <a:rPr lang="en-US" altLang="zh-CN"/>
              <a:t>		3.</a:t>
            </a:r>
            <a:r>
              <a:rPr lang="zh-CN" altLang="en-US"/>
              <a:t>转换时间不足冲突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冲突时连边：</a:t>
            </a:r>
            <a:r>
              <a:rPr lang="en-US" altLang="zh-CN"/>
              <a:t>1.</a:t>
            </a:r>
            <a:r>
              <a:rPr lang="zh-CN" altLang="en-US"/>
              <a:t>可行解判断简单</a:t>
            </a:r>
            <a:br>
              <a:rPr lang="zh-CN" altLang="en-US"/>
            </a:br>
            <a:r>
              <a:rPr lang="en-US" altLang="zh-CN"/>
              <a:t>	       2.</a:t>
            </a:r>
            <a:r>
              <a:rPr lang="zh-CN" altLang="en-US"/>
              <a:t>后续在创新点</a:t>
            </a:r>
            <a:r>
              <a:rPr lang="en-US" altLang="zh-CN"/>
              <a:t>4</a:t>
            </a:r>
            <a:r>
              <a:rPr lang="zh-CN" altLang="en-US"/>
              <a:t>：冲突图感知快速插入–替换局部搜索策略的时候比较简单</a:t>
            </a:r>
            <a:br>
              <a:rPr lang="zh-CN" altLang="en-US"/>
            </a:br>
            <a:r>
              <a:rPr lang="en-US" altLang="zh-CN"/>
              <a:t>	       3.</a:t>
            </a:r>
            <a:r>
              <a:rPr lang="zh-CN" altLang="en-US"/>
              <a:t>这个想法的大部分内容是</a:t>
            </a:r>
            <a:r>
              <a:rPr lang="en-US" altLang="zh-CN"/>
              <a:t>“</a:t>
            </a:r>
            <a:r>
              <a:rPr lang="zh-CN" altLang="en-US"/>
              <a:t>冲突关系</a:t>
            </a:r>
            <a:r>
              <a:rPr lang="en-US" altLang="zh-CN"/>
              <a:t>”</a:t>
            </a:r>
            <a:r>
              <a:rPr lang="zh-CN" altLang="en-US"/>
              <a:t>来搞的的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>
            <p:custDataLst>
              <p:tags r:id="rId1"/>
            </p:custDataLst>
          </p:nvPr>
        </p:nvSpPr>
        <p:spPr>
          <a:xfrm>
            <a:off x="73530" y="57785"/>
            <a:ext cx="11033819" cy="570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：任务–卫星–窗口三元冲突图建模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61468" y="1051560"/>
            <a:ext cx="861060" cy="23558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chemeClr val="tx1"/>
                </a:solidFill>
                <a:latin typeface="微软雅黑" panose="020B0503020204020204" charset="-122"/>
              </a:rPr>
              <a:t>候选节点池</a:t>
            </a:r>
            <a:endParaRPr sz="13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61468" y="1417320"/>
            <a:ext cx="1664208" cy="713232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50" b="1">
                <a:solidFill>
                  <a:srgbClr val="0A1F3A"/>
                </a:solidFill>
                <a:latin typeface="微软雅黑" panose="020B0503020204020204" charset="-122"/>
              </a:rPr>
              <a:t>v₁</a:t>
            </a:r>
            <a:endParaRPr sz="1350" b="1">
              <a:solidFill>
                <a:srgbClr val="0A1F3A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5B6A82"/>
                </a:solidFill>
                <a:latin typeface="微软雅黑" panose="020B0503020204020204" charset="-122"/>
              </a:rPr>
              <a:t>t7 · s1</a:t>
            </a:r>
            <a:endParaRPr sz="950">
              <a:solidFill>
                <a:srgbClr val="5B6A82"/>
              </a:solidFill>
              <a:latin typeface="微软雅黑" panose="020B0503020204020204" charset="-122"/>
            </a:endParaRPr>
          </a:p>
          <a:p>
            <a:pPr algn="ctr"/>
            <a:r>
              <a:rPr sz="850">
                <a:solidFill>
                  <a:srgbClr val="5B6A82"/>
                </a:solidFill>
                <a:latin typeface="微软雅黑" panose="020B0503020204020204" charset="-122"/>
              </a:rPr>
              <a:t>08:10–08:14</a:t>
            </a:r>
            <a:endParaRPr sz="850">
              <a:solidFill>
                <a:srgbClr val="5B6A82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61468" y="2331720"/>
            <a:ext cx="1664208" cy="713232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50" b="1">
                <a:solidFill>
                  <a:srgbClr val="0A1F3A"/>
                </a:solidFill>
                <a:latin typeface="微软雅黑" panose="020B0503020204020204" charset="-122"/>
              </a:rPr>
              <a:t>v₂</a:t>
            </a:r>
            <a:endParaRPr sz="1350" b="1">
              <a:solidFill>
                <a:srgbClr val="0A1F3A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5B6A82"/>
                </a:solidFill>
                <a:latin typeface="微软雅黑" panose="020B0503020204020204" charset="-122"/>
              </a:rPr>
              <a:t>t7 · s2</a:t>
            </a:r>
            <a:endParaRPr sz="950">
              <a:solidFill>
                <a:srgbClr val="5B6A82"/>
              </a:solidFill>
              <a:latin typeface="微软雅黑" panose="020B0503020204020204" charset="-122"/>
            </a:endParaRPr>
          </a:p>
          <a:p>
            <a:pPr algn="ctr"/>
            <a:r>
              <a:rPr sz="850">
                <a:solidFill>
                  <a:srgbClr val="5B6A82"/>
                </a:solidFill>
                <a:latin typeface="微软雅黑" panose="020B0503020204020204" charset="-122"/>
              </a:rPr>
              <a:t>09:20–09:24</a:t>
            </a:r>
            <a:endParaRPr sz="850">
              <a:solidFill>
                <a:srgbClr val="5B6A82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661468" y="3246120"/>
            <a:ext cx="1664208" cy="713232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50" b="1">
                <a:solidFill>
                  <a:srgbClr val="0A1F3A"/>
                </a:solidFill>
                <a:latin typeface="微软雅黑" panose="020B0503020204020204" charset="-122"/>
              </a:rPr>
              <a:t>v₃</a:t>
            </a:r>
            <a:endParaRPr sz="1350" b="1">
              <a:solidFill>
                <a:srgbClr val="0A1F3A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5B6A82"/>
                </a:solidFill>
                <a:latin typeface="微软雅黑" panose="020B0503020204020204" charset="-122"/>
              </a:rPr>
              <a:t>t12 · s1</a:t>
            </a:r>
            <a:endParaRPr sz="950">
              <a:solidFill>
                <a:srgbClr val="5B6A82"/>
              </a:solidFill>
              <a:latin typeface="微软雅黑" panose="020B0503020204020204" charset="-122"/>
            </a:endParaRPr>
          </a:p>
          <a:p>
            <a:pPr algn="ctr"/>
            <a:r>
              <a:rPr sz="850">
                <a:solidFill>
                  <a:srgbClr val="5B6A82"/>
                </a:solidFill>
                <a:latin typeface="微软雅黑" panose="020B0503020204020204" charset="-122"/>
              </a:rPr>
              <a:t>08:12–08:16</a:t>
            </a:r>
            <a:endParaRPr sz="850">
              <a:solidFill>
                <a:srgbClr val="5B6A82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61468" y="4160520"/>
            <a:ext cx="1664208" cy="713232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50" b="1">
                <a:solidFill>
                  <a:srgbClr val="0A1F3A"/>
                </a:solidFill>
                <a:latin typeface="微软雅黑" panose="020B0503020204020204" charset="-122"/>
              </a:rPr>
              <a:t>v₄</a:t>
            </a:r>
            <a:endParaRPr sz="1350" b="1">
              <a:solidFill>
                <a:srgbClr val="0A1F3A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5B6A82"/>
                </a:solidFill>
                <a:latin typeface="微软雅黑" panose="020B0503020204020204" charset="-122"/>
              </a:rPr>
              <a:t>t31 · s1</a:t>
            </a:r>
            <a:endParaRPr sz="950">
              <a:solidFill>
                <a:srgbClr val="5B6A82"/>
              </a:solidFill>
              <a:latin typeface="微软雅黑" panose="020B0503020204020204" charset="-122"/>
            </a:endParaRPr>
          </a:p>
          <a:p>
            <a:pPr algn="ctr"/>
            <a:r>
              <a:rPr sz="850">
                <a:solidFill>
                  <a:srgbClr val="5B6A82"/>
                </a:solidFill>
                <a:latin typeface="微软雅黑" panose="020B0503020204020204" charset="-122"/>
              </a:rPr>
              <a:t>08:18–08:21</a:t>
            </a:r>
            <a:endParaRPr sz="850">
              <a:solidFill>
                <a:srgbClr val="5B6A82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24308" y="5230368"/>
            <a:ext cx="2103120" cy="566928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l"/>
            <a:r>
              <a:rPr sz="980" b="1">
                <a:solidFill>
                  <a:srgbClr val="0A1F3A"/>
                </a:solidFill>
                <a:latin typeface="微软雅黑" panose="020B0503020204020204" charset="-122"/>
              </a:rPr>
              <a:t>把每两个节点拿出来判断：</a:t>
            </a:r>
            <a:endParaRPr sz="980" b="1">
              <a:solidFill>
                <a:srgbClr val="0A1F3A"/>
              </a:solidFill>
              <a:latin typeface="微软雅黑" panose="020B0503020204020204" charset="-122"/>
            </a:endParaRPr>
          </a:p>
          <a:p>
            <a:pPr algn="l"/>
            <a:r>
              <a:rPr sz="880" b="0">
                <a:solidFill>
                  <a:srgbClr val="0A1F3A"/>
                </a:solidFill>
                <a:latin typeface="微软雅黑" panose="020B0503020204020204" charset="-122"/>
              </a:rPr>
              <a:t>只要不能同时选，就连一条冲突边。</a:t>
            </a:r>
            <a:endParaRPr sz="880" b="0">
              <a:solidFill>
                <a:srgbClr val="0A1F3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93188" y="1051560"/>
            <a:ext cx="1531620" cy="23558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A1F3A"/>
                </a:solidFill>
                <a:latin typeface="微软雅黑" panose="020B0503020204020204" charset="-122"/>
              </a:rPr>
              <a:t>生成冲突图 G=(V,E)</a:t>
            </a:r>
            <a:endParaRPr sz="1300" b="1">
              <a:solidFill>
                <a:srgbClr val="0A1F3A"/>
              </a:solidFill>
              <a:latin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 flipV="1">
            <a:off x="9953308" y="1874519"/>
            <a:ext cx="1600200" cy="137161"/>
          </a:xfrm>
          <a:prstGeom prst="line">
            <a:avLst/>
          </a:prstGeom>
          <a:noFill/>
          <a:ln w="27940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53308" y="2011680"/>
            <a:ext cx="320040" cy="1783080"/>
          </a:xfrm>
          <a:prstGeom prst="line">
            <a:avLst/>
          </a:prstGeom>
          <a:noFill/>
          <a:ln w="27940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273348" y="3794760"/>
            <a:ext cx="1417320" cy="365760"/>
          </a:xfrm>
          <a:prstGeom prst="line">
            <a:avLst/>
          </a:prstGeom>
          <a:noFill/>
          <a:ln w="27940">
            <a:solidFill>
              <a:srgbClr val="FF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651556" y="1709928"/>
            <a:ext cx="603504" cy="603504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微软雅黑" panose="020B0503020204020204" charset="-122"/>
              </a:rPr>
              <a:t>v₁</a:t>
            </a:r>
            <a:endParaRPr sz="1500" b="1">
              <a:solidFill>
                <a:srgbClr val="0A1F3A"/>
              </a:solidFill>
              <a:latin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251756" y="1572767"/>
            <a:ext cx="603504" cy="603504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微软雅黑" panose="020B0503020204020204" charset="-122"/>
              </a:rPr>
              <a:t>v₂</a:t>
            </a:r>
            <a:endParaRPr sz="1500" b="1">
              <a:solidFill>
                <a:srgbClr val="0A1F3A"/>
              </a:solidFill>
              <a:latin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971596" y="3493008"/>
            <a:ext cx="603504" cy="603504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  <a:scene3d>
            <a:camera prst="orthographicFront"/>
            <a:lightRig rig="threePt" dir="t"/>
          </a:scene3d>
          <a:sp3d contourW="63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微软雅黑" panose="020B0503020204020204" charset="-122"/>
              </a:rPr>
              <a:t>v₃</a:t>
            </a:r>
            <a:endParaRPr sz="1500" b="1">
              <a:solidFill>
                <a:srgbClr val="0A1F3A"/>
              </a:solidFill>
              <a:latin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1388916" y="3858768"/>
            <a:ext cx="603504" cy="603504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微软雅黑" panose="020B0503020204020204" charset="-122"/>
              </a:rPr>
              <a:t>v₄</a:t>
            </a:r>
            <a:endParaRPr sz="1500" b="1">
              <a:solidFill>
                <a:srgbClr val="0A1F3A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456228" y="2286000"/>
            <a:ext cx="749808" cy="402336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820" b="1">
                <a:solidFill>
                  <a:srgbClr val="EE5258"/>
                </a:solidFill>
                <a:latin typeface="微软雅黑" panose="020B0503020204020204" charset="-122"/>
              </a:rPr>
              <a:t>同任务</a:t>
            </a:r>
            <a:endParaRPr sz="820" b="1">
              <a:solidFill>
                <a:srgbClr val="EE5258"/>
              </a:solidFill>
              <a:latin typeface="微软雅黑" panose="020B0503020204020204" charset="-122"/>
            </a:endParaRPr>
          </a:p>
          <a:p>
            <a:pPr algn="ctr"/>
            <a:r>
              <a:rPr sz="800" b="0">
                <a:solidFill>
                  <a:srgbClr val="EE5258"/>
                </a:solidFill>
                <a:latin typeface="微软雅黑" panose="020B0503020204020204" charset="-122"/>
              </a:rPr>
              <a:t>互斥</a:t>
            </a:r>
            <a:endParaRPr sz="800" b="0">
              <a:solidFill>
                <a:srgbClr val="EE5258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496108" y="2770632"/>
            <a:ext cx="749808" cy="402336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820" b="1">
                <a:solidFill>
                  <a:srgbClr val="EE5258"/>
                </a:solidFill>
                <a:latin typeface="微软雅黑" panose="020B0503020204020204" charset="-122"/>
              </a:rPr>
              <a:t>同星</a:t>
            </a:r>
            <a:endParaRPr sz="820" b="1">
              <a:solidFill>
                <a:srgbClr val="EE5258"/>
              </a:solidFill>
              <a:latin typeface="微软雅黑" panose="020B0503020204020204" charset="-122"/>
            </a:endParaRPr>
          </a:p>
          <a:p>
            <a:pPr algn="ctr"/>
            <a:r>
              <a:rPr sz="800" b="0">
                <a:solidFill>
                  <a:srgbClr val="EE5258"/>
                </a:solidFill>
                <a:latin typeface="微软雅黑" panose="020B0503020204020204" charset="-122"/>
              </a:rPr>
              <a:t>重叠</a:t>
            </a:r>
            <a:endParaRPr sz="800" b="0">
              <a:solidFill>
                <a:srgbClr val="EE5258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611676" y="4315968"/>
            <a:ext cx="749808" cy="402336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820" b="1">
                <a:solidFill>
                  <a:srgbClr val="EE5258"/>
                </a:solidFill>
                <a:latin typeface="微软雅黑" panose="020B0503020204020204" charset="-122"/>
              </a:rPr>
              <a:t>机动</a:t>
            </a:r>
            <a:endParaRPr sz="820" b="1">
              <a:solidFill>
                <a:srgbClr val="EE5258"/>
              </a:solidFill>
              <a:latin typeface="微软雅黑" panose="020B0503020204020204" charset="-122"/>
            </a:endParaRPr>
          </a:p>
          <a:p>
            <a:pPr algn="ctr"/>
            <a:r>
              <a:rPr sz="800" b="0">
                <a:solidFill>
                  <a:srgbClr val="EE5258"/>
                </a:solidFill>
                <a:latin typeface="微软雅黑" panose="020B0503020204020204" charset="-122"/>
              </a:rPr>
              <a:t>不足</a:t>
            </a:r>
            <a:endParaRPr sz="800" b="0">
              <a:solidFill>
                <a:srgbClr val="EE5258"/>
              </a:solidFill>
              <a:latin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64320" y="5007610"/>
            <a:ext cx="2701925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冲突边的连边规则：</a:t>
            </a:r>
            <a:r>
              <a:rPr lang="zh-CN" altLang="en-US"/>
              <a:t>即</a:t>
            </a:r>
            <a:br>
              <a:rPr lang="zh-CN" altLang="en-US"/>
            </a:br>
            <a:r>
              <a:rPr lang="zh-CN" altLang="en-US"/>
              <a:t>卫星调度中的约束</a:t>
            </a:r>
            <a:r>
              <a:rPr lang="zh-CN" altLang="en-US"/>
              <a:t>条件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7" name="Rounded Rectangle 8"/>
          <p:cNvSpPr/>
          <p:nvPr/>
        </p:nvSpPr>
        <p:spPr>
          <a:xfrm>
            <a:off x="406400" y="1064768"/>
            <a:ext cx="2011680" cy="32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300" b="1">
                <a:solidFill>
                  <a:schemeClr val="tx1"/>
                </a:solidFill>
                <a:latin typeface="微软雅黑" panose="020B0503020204020204" charset="-122"/>
              </a:rPr>
              <a:t>展开成节点</a:t>
            </a:r>
            <a:endParaRPr sz="13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9"/>
          <p:cNvSpPr/>
          <p:nvPr/>
        </p:nvSpPr>
        <p:spPr>
          <a:xfrm>
            <a:off x="4165600" y="1054608"/>
            <a:ext cx="1874519" cy="32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300" b="1">
                <a:solidFill>
                  <a:schemeClr val="tx1"/>
                </a:solidFill>
                <a:latin typeface="微软雅黑" panose="020B0503020204020204" charset="-122"/>
              </a:rPr>
              <a:t> 编码成解</a:t>
            </a:r>
            <a:endParaRPr sz="13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27" name="TextBox 18"/>
          <p:cNvSpPr txBox="1"/>
          <p:nvPr/>
        </p:nvSpPr>
        <p:spPr>
          <a:xfrm>
            <a:off x="406400" y="1613408"/>
            <a:ext cx="2286000" cy="2286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  <a:latin typeface="微软雅黑" panose="020B0503020204020204" charset="-122"/>
              </a:rPr>
              <a:t>一个窗口 = 一个候选节点</a:t>
            </a:r>
            <a:endParaRPr sz="12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19"/>
          <p:cNvSpPr/>
          <p:nvPr/>
        </p:nvSpPr>
        <p:spPr>
          <a:xfrm>
            <a:off x="378968" y="1915159"/>
            <a:ext cx="1508760" cy="749808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50" b="1">
                <a:solidFill>
                  <a:srgbClr val="0A1F3A"/>
                </a:solidFill>
                <a:latin typeface="微软雅黑" panose="020B0503020204020204" charset="-122"/>
              </a:rPr>
              <a:t>v₇,₁,₁</a:t>
            </a:r>
            <a:endParaRPr sz="1350" b="1">
              <a:solidFill>
                <a:srgbClr val="0A1F3A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5B6A82"/>
                </a:solidFill>
                <a:latin typeface="微软雅黑" panose="020B0503020204020204" charset="-122"/>
              </a:rPr>
              <a:t>t7 · s1</a:t>
            </a:r>
            <a:endParaRPr sz="950">
              <a:solidFill>
                <a:srgbClr val="5B6A82"/>
              </a:solidFill>
              <a:latin typeface="微软雅黑" panose="020B0503020204020204" charset="-122"/>
            </a:endParaRPr>
          </a:p>
          <a:p>
            <a:pPr algn="ctr"/>
            <a:r>
              <a:rPr sz="850">
                <a:solidFill>
                  <a:srgbClr val="5B6A82"/>
                </a:solidFill>
                <a:latin typeface="微软雅黑" panose="020B0503020204020204" charset="-122"/>
              </a:rPr>
              <a:t>08:10–08:14</a:t>
            </a:r>
            <a:endParaRPr sz="850">
              <a:solidFill>
                <a:srgbClr val="5B6A82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0"/>
          <p:cNvSpPr/>
          <p:nvPr/>
        </p:nvSpPr>
        <p:spPr>
          <a:xfrm>
            <a:off x="2034032" y="1915159"/>
            <a:ext cx="1508760" cy="749808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50" b="1">
                <a:solidFill>
                  <a:srgbClr val="0A1F3A"/>
                </a:solidFill>
                <a:latin typeface="微软雅黑" panose="020B0503020204020204" charset="-122"/>
              </a:rPr>
              <a:t>v₁₂,₁,₁</a:t>
            </a:r>
            <a:endParaRPr sz="1350" b="1">
              <a:solidFill>
                <a:srgbClr val="0A1F3A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5B6A82"/>
                </a:solidFill>
                <a:latin typeface="微软雅黑" panose="020B0503020204020204" charset="-122"/>
              </a:rPr>
              <a:t>t12 · s1</a:t>
            </a:r>
            <a:endParaRPr sz="950">
              <a:solidFill>
                <a:srgbClr val="5B6A82"/>
              </a:solidFill>
              <a:latin typeface="微软雅黑" panose="020B0503020204020204" charset="-122"/>
            </a:endParaRPr>
          </a:p>
          <a:p>
            <a:pPr algn="ctr"/>
            <a:r>
              <a:rPr sz="850">
                <a:solidFill>
                  <a:srgbClr val="5B6A82"/>
                </a:solidFill>
                <a:latin typeface="微软雅黑" panose="020B0503020204020204" charset="-122"/>
              </a:rPr>
              <a:t>08:18–08:21</a:t>
            </a:r>
            <a:endParaRPr sz="850">
              <a:solidFill>
                <a:srgbClr val="5B6A82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1"/>
          <p:cNvSpPr/>
          <p:nvPr/>
        </p:nvSpPr>
        <p:spPr>
          <a:xfrm>
            <a:off x="378968" y="2856992"/>
            <a:ext cx="1508760" cy="749808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50" b="1">
                <a:solidFill>
                  <a:srgbClr val="0A1F3A"/>
                </a:solidFill>
                <a:latin typeface="微软雅黑" panose="020B0503020204020204" charset="-122"/>
              </a:rPr>
              <a:t>v₇,₂,₁</a:t>
            </a:r>
            <a:endParaRPr sz="1350" b="1">
              <a:solidFill>
                <a:srgbClr val="0A1F3A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5B6A82"/>
                </a:solidFill>
                <a:latin typeface="微软雅黑" panose="020B0503020204020204" charset="-122"/>
              </a:rPr>
              <a:t>t7 · s2</a:t>
            </a:r>
            <a:endParaRPr sz="950">
              <a:solidFill>
                <a:srgbClr val="5B6A82"/>
              </a:solidFill>
              <a:latin typeface="微软雅黑" panose="020B0503020204020204" charset="-122"/>
            </a:endParaRPr>
          </a:p>
          <a:p>
            <a:pPr algn="ctr"/>
            <a:r>
              <a:rPr sz="850">
                <a:solidFill>
                  <a:srgbClr val="5B6A82"/>
                </a:solidFill>
                <a:latin typeface="微软雅黑" panose="020B0503020204020204" charset="-122"/>
              </a:rPr>
              <a:t>09:20–09:24</a:t>
            </a:r>
            <a:endParaRPr sz="850">
              <a:solidFill>
                <a:srgbClr val="5B6A82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22"/>
          <p:cNvSpPr/>
          <p:nvPr/>
        </p:nvSpPr>
        <p:spPr>
          <a:xfrm>
            <a:off x="2034032" y="2856992"/>
            <a:ext cx="1508760" cy="749808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50" b="1">
                <a:solidFill>
                  <a:srgbClr val="0A1F3A"/>
                </a:solidFill>
                <a:latin typeface="微软雅黑" panose="020B0503020204020204" charset="-122"/>
              </a:rPr>
              <a:t>v₃₁,₃,₁</a:t>
            </a:r>
            <a:endParaRPr sz="1350" b="1">
              <a:solidFill>
                <a:srgbClr val="0A1F3A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5B6A82"/>
                </a:solidFill>
                <a:latin typeface="微软雅黑" panose="020B0503020204020204" charset="-122"/>
              </a:rPr>
              <a:t>t31 · s3</a:t>
            </a:r>
            <a:endParaRPr sz="950">
              <a:solidFill>
                <a:srgbClr val="5B6A82"/>
              </a:solidFill>
              <a:latin typeface="微软雅黑" panose="020B0503020204020204" charset="-122"/>
            </a:endParaRPr>
          </a:p>
          <a:p>
            <a:pPr algn="ctr"/>
            <a:r>
              <a:rPr sz="850">
                <a:solidFill>
                  <a:srgbClr val="5B6A82"/>
                </a:solidFill>
                <a:latin typeface="微软雅黑" panose="020B0503020204020204" charset="-122"/>
              </a:rPr>
              <a:t>10:05–10:10</a:t>
            </a:r>
            <a:endParaRPr sz="850">
              <a:solidFill>
                <a:srgbClr val="5B6A82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23"/>
          <p:cNvSpPr/>
          <p:nvPr/>
        </p:nvSpPr>
        <p:spPr>
          <a:xfrm>
            <a:off x="497840" y="4018279"/>
            <a:ext cx="2788920" cy="594360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050" b="1">
                <a:solidFill>
                  <a:srgbClr val="0A1F3A"/>
                </a:solidFill>
                <a:latin typeface="微软雅黑" panose="020B0503020204020204" charset="-122"/>
              </a:rPr>
              <a:t>节点字段</a:t>
            </a:r>
            <a:endParaRPr sz="1050" b="1">
              <a:solidFill>
                <a:srgbClr val="0A1F3A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0A1F3A"/>
                </a:solidFill>
                <a:latin typeface="微软雅黑" panose="020B0503020204020204" charset="-122"/>
              </a:rPr>
              <a:t>node_id / task_id / sat_id / window_id / start / end / profit</a:t>
            </a:r>
            <a:endParaRPr sz="950" b="0">
              <a:solidFill>
                <a:srgbClr val="0A1F3A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25"/>
          <p:cNvSpPr/>
          <p:nvPr/>
        </p:nvSpPr>
        <p:spPr>
          <a:xfrm>
            <a:off x="4138168" y="1904999"/>
            <a:ext cx="2057400" cy="5029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sz="1200" b="1">
                <a:solidFill>
                  <a:schemeClr val="tx1"/>
                </a:solidFill>
                <a:latin typeface="微软雅黑" panose="020B0503020204020204" charset="-122"/>
              </a:rPr>
              <a:t>X = { v₇,₁,₁,  v₁₂,₁,₁,  v₃₁,₃,₁ }</a:t>
            </a:r>
            <a:endParaRPr sz="12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26"/>
          <p:cNvSpPr/>
          <p:nvPr/>
        </p:nvSpPr>
        <p:spPr>
          <a:xfrm>
            <a:off x="4193032" y="2663952"/>
            <a:ext cx="1783080" cy="667512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50" b="1">
                <a:solidFill>
                  <a:srgbClr val="0A1F3A"/>
                </a:solidFill>
                <a:latin typeface="微软雅黑" panose="020B0503020204020204" charset="-122"/>
              </a:rPr>
              <a:t>v₇,₁,₁  </a:t>
            </a:r>
            <a:endParaRPr sz="1350" b="1">
              <a:solidFill>
                <a:srgbClr val="0A1F3A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5B6A82"/>
                </a:solidFill>
                <a:latin typeface="微软雅黑" panose="020B0503020204020204" charset="-122"/>
              </a:rPr>
              <a:t>t7 · s1</a:t>
            </a:r>
            <a:endParaRPr sz="950">
              <a:solidFill>
                <a:srgbClr val="5B6A82"/>
              </a:solidFill>
              <a:latin typeface="微软雅黑" panose="020B0503020204020204" charset="-122"/>
            </a:endParaRPr>
          </a:p>
          <a:p>
            <a:pPr algn="ctr"/>
            <a:r>
              <a:rPr sz="850">
                <a:solidFill>
                  <a:srgbClr val="5B6A82"/>
                </a:solidFill>
                <a:latin typeface="微软雅黑" panose="020B0503020204020204" charset="-122"/>
              </a:rPr>
              <a:t>08:10–08:14</a:t>
            </a:r>
            <a:endParaRPr sz="850">
              <a:solidFill>
                <a:srgbClr val="5B6A82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27"/>
          <p:cNvSpPr/>
          <p:nvPr/>
        </p:nvSpPr>
        <p:spPr>
          <a:xfrm>
            <a:off x="4193032" y="3486912"/>
            <a:ext cx="1783080" cy="667512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50" b="1">
                <a:solidFill>
                  <a:srgbClr val="0A1F3A"/>
                </a:solidFill>
                <a:latin typeface="微软雅黑" panose="020B0503020204020204" charset="-122"/>
              </a:rPr>
              <a:t>v₁₂,₁,₁  </a:t>
            </a:r>
            <a:endParaRPr sz="1350" b="1">
              <a:solidFill>
                <a:srgbClr val="0A1F3A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5B6A82"/>
                </a:solidFill>
                <a:latin typeface="微软雅黑" panose="020B0503020204020204" charset="-122"/>
              </a:rPr>
              <a:t>t12 · s1</a:t>
            </a:r>
            <a:endParaRPr sz="950">
              <a:solidFill>
                <a:srgbClr val="5B6A82"/>
              </a:solidFill>
              <a:latin typeface="微软雅黑" panose="020B0503020204020204" charset="-122"/>
            </a:endParaRPr>
          </a:p>
          <a:p>
            <a:pPr algn="ctr"/>
            <a:r>
              <a:rPr sz="850">
                <a:solidFill>
                  <a:srgbClr val="5B6A82"/>
                </a:solidFill>
                <a:latin typeface="微软雅黑" panose="020B0503020204020204" charset="-122"/>
              </a:rPr>
              <a:t>08:18–08:21</a:t>
            </a:r>
            <a:endParaRPr sz="850">
              <a:solidFill>
                <a:srgbClr val="5B6A82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28"/>
          <p:cNvSpPr/>
          <p:nvPr/>
        </p:nvSpPr>
        <p:spPr>
          <a:xfrm>
            <a:off x="4193032" y="4309872"/>
            <a:ext cx="1783080" cy="667512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50" b="1">
                <a:solidFill>
                  <a:srgbClr val="0A1F3A"/>
                </a:solidFill>
                <a:latin typeface="微软雅黑" panose="020B0503020204020204" charset="-122"/>
              </a:rPr>
              <a:t>v₃₁,₃,₁  </a:t>
            </a:r>
            <a:endParaRPr sz="1350" b="1">
              <a:solidFill>
                <a:srgbClr val="0A1F3A"/>
              </a:solidFill>
              <a:latin typeface="微软雅黑" panose="020B0503020204020204" charset="-122"/>
            </a:endParaRPr>
          </a:p>
          <a:p>
            <a:pPr algn="ctr"/>
            <a:r>
              <a:rPr sz="950">
                <a:solidFill>
                  <a:srgbClr val="5B6A82"/>
                </a:solidFill>
                <a:latin typeface="微软雅黑" panose="020B0503020204020204" charset="-122"/>
              </a:rPr>
              <a:t>t31 · s3</a:t>
            </a:r>
            <a:endParaRPr sz="950">
              <a:solidFill>
                <a:srgbClr val="5B6A82"/>
              </a:solidFill>
              <a:latin typeface="微软雅黑" panose="020B0503020204020204" charset="-122"/>
            </a:endParaRPr>
          </a:p>
          <a:p>
            <a:pPr algn="ctr"/>
            <a:r>
              <a:rPr sz="850">
                <a:solidFill>
                  <a:srgbClr val="5B6A82"/>
                </a:solidFill>
                <a:latin typeface="微软雅黑" panose="020B0503020204020204" charset="-122"/>
              </a:rPr>
              <a:t>10:05–10:10</a:t>
            </a:r>
            <a:endParaRPr sz="850">
              <a:solidFill>
                <a:srgbClr val="5B6A82"/>
              </a:solidFill>
              <a:latin typeface="微软雅黑" panose="020B0503020204020204" charset="-122"/>
            </a:endParaRPr>
          </a:p>
        </p:txBody>
      </p:sp>
      <p:sp>
        <p:nvSpPr>
          <p:cNvPr id="39" name="Oval 17"/>
          <p:cNvSpPr/>
          <p:nvPr/>
        </p:nvSpPr>
        <p:spPr>
          <a:xfrm>
            <a:off x="1284796" y="5476748"/>
            <a:ext cx="603504" cy="603504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微软雅黑" panose="020B0503020204020204" charset="-122"/>
              </a:rPr>
              <a:t>v₁</a:t>
            </a:r>
            <a:endParaRPr sz="1500" b="1">
              <a:solidFill>
                <a:srgbClr val="0A1F3A"/>
              </a:solidFill>
              <a:latin typeface="微软雅黑" panose="020B0503020204020204" charset="-122"/>
            </a:endParaRPr>
          </a:p>
        </p:txBody>
      </p:sp>
      <p:sp>
        <p:nvSpPr>
          <p:cNvPr id="42" name="Oval 18"/>
          <p:cNvSpPr/>
          <p:nvPr/>
        </p:nvSpPr>
        <p:spPr>
          <a:xfrm>
            <a:off x="1888046" y="4873497"/>
            <a:ext cx="603504" cy="603504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微软雅黑" panose="020B0503020204020204" charset="-122"/>
              </a:rPr>
              <a:t>v₂</a:t>
            </a:r>
            <a:endParaRPr sz="1500" b="1">
              <a:solidFill>
                <a:srgbClr val="0A1F3A"/>
              </a:solidFill>
              <a:latin typeface="微软雅黑" panose="020B0503020204020204" charset="-122"/>
            </a:endParaRPr>
          </a:p>
        </p:txBody>
      </p:sp>
      <p:sp>
        <p:nvSpPr>
          <p:cNvPr id="43" name="Oval 19"/>
          <p:cNvSpPr/>
          <p:nvPr/>
        </p:nvSpPr>
        <p:spPr>
          <a:xfrm>
            <a:off x="1952181" y="5895848"/>
            <a:ext cx="603504" cy="603504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  <a:scene3d>
            <a:camera prst="orthographicFront"/>
            <a:lightRig rig="threePt" dir="t"/>
          </a:scene3d>
          <a:sp3d contourW="63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微软雅黑" panose="020B0503020204020204" charset="-122"/>
              </a:rPr>
              <a:t>v₃</a:t>
            </a:r>
            <a:endParaRPr sz="1500" b="1">
              <a:solidFill>
                <a:srgbClr val="0A1F3A"/>
              </a:solidFill>
              <a:latin typeface="微软雅黑" panose="020B0503020204020204" charset="-122"/>
            </a:endParaRPr>
          </a:p>
        </p:txBody>
      </p:sp>
      <p:sp>
        <p:nvSpPr>
          <p:cNvPr id="44" name="Oval 20"/>
          <p:cNvSpPr/>
          <p:nvPr/>
        </p:nvSpPr>
        <p:spPr>
          <a:xfrm>
            <a:off x="2783396" y="5023993"/>
            <a:ext cx="603504" cy="603504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微软雅黑" panose="020B0503020204020204" charset="-122"/>
              </a:rPr>
              <a:t>v₄</a:t>
            </a:r>
            <a:endParaRPr sz="1500" b="1">
              <a:solidFill>
                <a:srgbClr val="0A1F3A"/>
              </a:solidFill>
              <a:latin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550285" y="4997450"/>
            <a:ext cx="24314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假设不冲突情况下就是这样，即可调度的方案，插入时如果和任意一个有边，就是违反</a:t>
            </a:r>
            <a:r>
              <a:rPr lang="zh-CN" altLang="en-US"/>
              <a:t>约束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>
            <p:custDataLst>
              <p:tags r:id="rId1"/>
            </p:custDataLst>
          </p:nvPr>
        </p:nvSpPr>
        <p:spPr>
          <a:xfrm>
            <a:off x="73530" y="57785"/>
            <a:ext cx="11033819" cy="570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：冲突图引导的蚁群构造机制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1356995"/>
            <a:ext cx="1096073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蚂蚁</a:t>
            </a:r>
            <a:r>
              <a:rPr lang="zh-CN" altLang="en-US" b="1"/>
              <a:t>从空解开始</a:t>
            </a:r>
            <a:r>
              <a:rPr lang="zh-CN" altLang="en-US"/>
              <a:t>，逐步选择任务–卫星–窗口候选节点，构造一个调度方案：</a:t>
            </a:r>
            <a:r>
              <a:rPr lang="en-US" altLang="zh-CN"/>
              <a:t>X = {v1, v2, . . . , vq}</a:t>
            </a:r>
            <a:r>
              <a:rPr lang="zh-CN" altLang="en-US"/>
              <a:t>；在当前部分解 </a:t>
            </a:r>
            <a:r>
              <a:rPr lang="en-US" altLang="zh-CN"/>
              <a:t>X </a:t>
            </a:r>
            <a:r>
              <a:rPr lang="zh-CN" altLang="en-US"/>
              <a:t>下，仍可选择的候选节点集合记为：</a:t>
            </a:r>
            <a:r>
              <a:rPr lang="en-US" altLang="zh-CN"/>
              <a:t>A(X)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zh-CN" altLang="en-US"/>
              <a:t>判断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A(X</a:t>
            </a:r>
            <a:r>
              <a:rPr lang="zh-CN" altLang="en-US">
                <a:sym typeface="+mn-ea"/>
              </a:rPr>
              <a:t>）的方法：就是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）中的任何一个节点和解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不存在冲突片。</a:t>
            </a:r>
            <a:br>
              <a:rPr lang="zh-CN" altLang="en-US">
                <a:sym typeface="+mn-ea"/>
              </a:rPr>
            </a:b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蚂蚁在候选节点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）中选择下一个节点的概率：其中分母就是分母表示当前所有可选节点综合吸引力之和（所有节点信息素影响力</a:t>
            </a:r>
            <a:r>
              <a:rPr lang="en-US" altLang="zh-CN">
                <a:sym typeface="+mn-ea"/>
              </a:rPr>
              <a:t>*</a:t>
            </a:r>
            <a:r>
              <a:rPr lang="zh-CN" altLang="en-US">
                <a:sym typeface="+mn-ea"/>
              </a:rPr>
              <a:t>启发信息影响力的和），分子就是具体某个节点的影响力（节点信息素影响力</a:t>
            </a:r>
            <a:r>
              <a:rPr lang="en-US" altLang="zh-CN">
                <a:sym typeface="+mn-ea"/>
              </a:rPr>
              <a:t>*</a:t>
            </a:r>
            <a:r>
              <a:rPr lang="zh-CN" altLang="en-US">
                <a:sym typeface="+mn-ea"/>
              </a:rPr>
              <a:t>启发信息影响力）</a:t>
            </a:r>
            <a:endParaRPr lang="zh-CN" alt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40" y="3662045"/>
            <a:ext cx="5671820" cy="14611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530" y="3039110"/>
            <a:ext cx="3589020" cy="299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>
            <p:custDataLst>
              <p:tags r:id="rId1"/>
            </p:custDataLst>
          </p:nvPr>
        </p:nvSpPr>
        <p:spPr>
          <a:xfrm>
            <a:off x="73530" y="57785"/>
            <a:ext cx="11033819" cy="570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：冲突图引导的蚁群构造机制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6940" y="1276350"/>
            <a:ext cx="10276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启发式函数的构造：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840" y="1831975"/>
            <a:ext cx="6974840" cy="1349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" y="3281680"/>
            <a:ext cx="4321810" cy="272859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612765" y="3509010"/>
            <a:ext cx="499745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任务收益、窗口稀缺度、冲突度、姿态动机在开始的时候对所有集合</a:t>
            </a:r>
            <a:r>
              <a:rPr lang="en-US" altLang="zh-CN"/>
              <a:t>V</a:t>
            </a:r>
            <a:r>
              <a:rPr lang="zh-CN" altLang="en-US"/>
              <a:t>做归一化。</a:t>
            </a:r>
            <a:br>
              <a:rPr lang="zh-CN" altLang="en-US"/>
            </a:br>
            <a:r>
              <a:rPr lang="zh-CN" altLang="en-US"/>
              <a:t>卫星负载是在使用时根据不同卫星执行的任务数量（执行任务的总时长），根据不同的问题模型进行设定。</a:t>
            </a:r>
            <a:br>
              <a:rPr lang="zh-CN" altLang="en-US"/>
            </a:br>
            <a:r>
              <a:rPr lang="en-US" altLang="zh-CN"/>
              <a:t>λ1、λ2、λ3、λ4</a:t>
            </a:r>
            <a:r>
              <a:rPr lang="zh-CN" altLang="en-US"/>
              <a:t>本质上就是调节任务调度偏向的权重参数。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>
            <p:custDataLst>
              <p:tags r:id="rId1"/>
            </p:custDataLst>
          </p:nvPr>
        </p:nvSpPr>
        <p:spPr>
          <a:xfrm>
            <a:off x="73530" y="57785"/>
            <a:ext cx="11033819" cy="570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：冲突图感知的 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Pareto 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档案信息素更新策略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6625" y="1316355"/>
            <a:ext cx="95732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算法维护一个 </a:t>
            </a:r>
            <a:r>
              <a:rPr lang="en-US" altLang="zh-CN"/>
              <a:t>Pareto </a:t>
            </a:r>
            <a:r>
              <a:rPr lang="zh-CN" altLang="en-US"/>
              <a:t>外部档案：</a:t>
            </a:r>
            <a:r>
              <a:rPr lang="en-US" altLang="zh-CN"/>
              <a:t>Archive = {X1, X2, . . . , Xm}</a:t>
            </a:r>
            <a:endParaRPr lang="en-US" altLang="zh-CN"/>
          </a:p>
          <a:p>
            <a:br>
              <a:rPr lang="en-US" altLang="zh-CN"/>
            </a:br>
            <a:r>
              <a:rPr lang="zh-CN" altLang="en-US"/>
              <a:t>蚁群算法机制：每轮迭代结束后，所有节点上的信息素先进行挥发：</a:t>
            </a:r>
            <a:r>
              <a:rPr lang="en-US" altLang="zh-CN"/>
              <a:t>τ (v) ← (1 − ρ)τ (v)  </a:t>
            </a:r>
            <a:br>
              <a:rPr lang="en-US" altLang="zh-CN"/>
            </a:br>
            <a:br>
              <a:rPr lang="en-US" altLang="zh-CN"/>
            </a:br>
            <a:r>
              <a:rPr lang="zh-CN" altLang="en-US"/>
              <a:t>我的想法的信息素更新公式为：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" y="2912110"/>
            <a:ext cx="3436620" cy="37579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08550" y="2905125"/>
            <a:ext cx="4937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其中，节点</a:t>
            </a:r>
            <a:r>
              <a:rPr lang="en-US" altLang="zh-CN"/>
              <a:t>v</a:t>
            </a:r>
            <a:r>
              <a:rPr lang="zh-CN" altLang="en-US"/>
              <a:t>的冲突图贡献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330" y="3535045"/>
            <a:ext cx="5453380" cy="12077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>
            <p:custDataLst>
              <p:tags r:id="rId1"/>
            </p:custDataLst>
          </p:nvPr>
        </p:nvSpPr>
        <p:spPr>
          <a:xfrm>
            <a:off x="73530" y="57785"/>
            <a:ext cx="11033819" cy="570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：冲突图感知快速插入–替换局部搜索策略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6425" y="1494155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局部搜索的原因：部分高价值任务未被安排、某些卫星负载不均衡、局部任务组合不是最优、低收益节点占用了关键时间窗口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06425" y="2564130"/>
                <a:ext cx="10627995" cy="119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快速插入：对于当前解 </a:t>
                </a:r>
                <a:r>
                  <a:rPr lang="en-US" altLang="zh-CN"/>
                  <a:t>X，</a:t>
                </a:r>
                <a:r>
                  <a:rPr lang="zh-CN" altLang="en-US"/>
                  <a:t>首先找出未调度任务对应的候选节点集合：</a:t>
                </a:r>
                <a:r>
                  <a:rPr lang="en-US" altLang="zh-CN"/>
                  <a:t>U = {v ∈ V | task(v)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∉</m:t>
                    </m:r>
                  </m:oMath>
                </a14:m>
                <a:r>
                  <a:rPr lang="en-US" altLang="zh-CN"/>
                  <a:t> task(X)}</a:t>
                </a:r>
                <a:r>
                  <a:rPr lang="zh-CN" altLang="en-US"/>
                  <a:t>；对每个候选节点 </a:t>
                </a:r>
                <a:r>
                  <a:rPr lang="en-US" altLang="zh-CN"/>
                  <a:t>v ∈ U ，</a:t>
                </a:r>
                <a:r>
                  <a:rPr lang="zh-CN" altLang="en-US"/>
                  <a:t>判断其是否可以直接插入当前解：</a:t>
                </a:r>
                <a:r>
                  <a:rPr lang="en-US" altLang="zh-CN"/>
                  <a:t>N (v)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∩</m:t>
                    </m:r>
                  </m:oMath>
                </a14:m>
                <a:r>
                  <a:rPr lang="en-US" altLang="zh-CN"/>
                  <a:t> X =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∅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若成立，则直接插入。</a:t>
                </a:r>
                <a:br>
                  <a:rPr lang="zh-CN" altLang="en-US"/>
                </a:br>
                <a:br>
                  <a:rPr lang="en-US" altLang="zh-CN"/>
                </a:br>
                <a:r>
                  <a:rPr lang="zh-CN" altLang="en-US"/>
                  <a:t>在插入前，要先对候选节点进行一个排序</a:t>
                </a:r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25" y="2564130"/>
                <a:ext cx="10627995" cy="11988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53105"/>
            <a:ext cx="6078855" cy="14109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6425" y="4899660"/>
            <a:ext cx="10751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插入完成之后，一样根据计算之后的排序进行替换；利用冲突图快速找到其与当前解的冲突集合，除冲突节点后加入新节点能够得到更好的解，则执行替换。是否执行替换的标准如下：</a:t>
            </a:r>
            <a:r>
              <a:rPr lang="en-US" altLang="zh-CN"/>
              <a:t>MGain&gt;0</a:t>
            </a:r>
            <a:r>
              <a:rPr lang="zh-CN" altLang="en-US"/>
              <a:t>时进行替换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25" y="5780405"/>
            <a:ext cx="6950075" cy="836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>
            <p:custDataLst>
              <p:tags r:id="rId1"/>
            </p:custDataLst>
          </p:nvPr>
        </p:nvSpPr>
        <p:spPr>
          <a:xfrm>
            <a:off x="73530" y="57785"/>
            <a:ext cx="11033819" cy="570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算法整理流程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 descr="流程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75" y="0"/>
            <a:ext cx="6753225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COMMONDATA" val="eyJoZGlkIjoiNDNhZjYzMWQ5OGY2M2FiNDE3MDVlODgxYzkwYTQ4OTYifQ=="/>
  <p:tag name="RESOURCE_RECORD_KEY" val="{&quot;10&quot;:[21601234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Microsoft YaHei UI"/>
        <a:ea typeface="微软雅黑"/>
        <a:cs typeface=""/>
      </a:majorFont>
      <a:minorFont>
        <a:latin typeface="Microsoft YaHei UI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1788</Words>
  <Application>WPS 演示</Application>
  <PresentationFormat>宽屏</PresentationFormat>
  <Paragraphs>127</Paragraphs>
  <Slides>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Cambria Math</vt:lpstr>
      <vt:lpstr>Microsoft YaHei UI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刘士豪</dc:creator>
  <cp:lastModifiedBy>茶哈哈</cp:lastModifiedBy>
  <cp:revision>119</cp:revision>
  <dcterms:created xsi:type="dcterms:W3CDTF">2023-08-09T12:44:00Z</dcterms:created>
  <dcterms:modified xsi:type="dcterms:W3CDTF">2026-06-25T08:39:26Z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84D6F44F6EE449F898692DA43BD58758_13</vt:lpwstr>
  </property>
  <property fmtid="{D5CDD505-2E9C-101B-9397-08002B2CF9AE}" pid="3" name="KSOProductBuildVer">
    <vt:lpwstr>2052-12.1.0.26895</vt:lpwstr>
  </property>
</Properties>
</file>